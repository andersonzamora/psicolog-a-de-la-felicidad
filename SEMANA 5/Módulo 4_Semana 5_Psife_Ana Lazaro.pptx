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457" r:id="rId3"/>
    <p:sldId id="264" r:id="rId4"/>
    <p:sldId id="276" r:id="rId5"/>
    <p:sldId id="266" r:id="rId6"/>
    <p:sldId id="281" r:id="rId7"/>
    <p:sldId id="469" r:id="rId8"/>
    <p:sldId id="267" r:id="rId9"/>
    <p:sldId id="465" r:id="rId10"/>
    <p:sldId id="466" r:id="rId11"/>
    <p:sldId id="467" r:id="rId12"/>
    <p:sldId id="453" r:id="rId13"/>
    <p:sldId id="285" r:id="rId14"/>
    <p:sldId id="454" r:id="rId15"/>
    <p:sldId id="286" r:id="rId16"/>
    <p:sldId id="446" r:id="rId17"/>
    <p:sldId id="287" r:id="rId18"/>
    <p:sldId id="289" r:id="rId19"/>
    <p:sldId id="449" r:id="rId20"/>
    <p:sldId id="470" r:id="rId21"/>
    <p:sldId id="256" r:id="rId2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43"/>
    <a:srgbClr val="FFFF99"/>
    <a:srgbClr val="FFFF66"/>
    <a:srgbClr val="99FFCC"/>
    <a:srgbClr val="B17ED8"/>
    <a:srgbClr val="0000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53"/>
    <p:restoredTop sz="96327"/>
  </p:normalViewPr>
  <p:slideViewPr>
    <p:cSldViewPr snapToGrid="0" snapToObjects="1">
      <p:cViewPr varScale="1">
        <p:scale>
          <a:sx n="79" d="100"/>
          <a:sy n="79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5CDBAB-C6C7-44F3-9A87-C5D69895E9B0}" type="doc">
      <dgm:prSet loTypeId="urn:microsoft.com/office/officeart/2005/8/layout/vProcess5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40E554BE-56DF-43BB-B055-538EADFA2E62}">
      <dgm:prSet phldrT="[Texto]"/>
      <dgm:spPr>
        <a:solidFill>
          <a:srgbClr val="FFFF43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Seligman, en su teoría inicial, propone las tres vías hacia la felicidad relacionadas con la satisfacción: la vida placentera, la vida comprometida y la vida trascendente.</a:t>
          </a:r>
          <a:endParaRPr lang="es-PE" dirty="0">
            <a:solidFill>
              <a:schemeClr val="tx1">
                <a:lumMod val="50000"/>
                <a:lumOff val="50000"/>
              </a:schemeClr>
            </a:solidFill>
          </a:endParaRPr>
        </a:p>
      </dgm:t>
    </dgm:pt>
    <dgm:pt modelId="{FB3CF2DA-30F6-42A7-AD44-E798C152386F}" type="parTrans" cxnId="{0A083CC1-CC22-4D5A-9E38-84A2B95E02BB}">
      <dgm:prSet/>
      <dgm:spPr/>
      <dgm:t>
        <a:bodyPr/>
        <a:lstStyle/>
        <a:p>
          <a:endParaRPr lang="es-PE"/>
        </a:p>
      </dgm:t>
    </dgm:pt>
    <dgm:pt modelId="{151B0B3A-4FC1-48B2-A7C4-4B34A22F0F33}" type="sibTrans" cxnId="{0A083CC1-CC22-4D5A-9E38-84A2B95E02BB}">
      <dgm:prSet/>
      <dgm:spPr>
        <a:solidFill>
          <a:srgbClr val="FFFF99">
            <a:alpha val="90000"/>
          </a:srgbClr>
        </a:solidFill>
      </dgm:spPr>
      <dgm:t>
        <a:bodyPr/>
        <a:lstStyle/>
        <a:p>
          <a:endParaRPr lang="es-PE"/>
        </a:p>
      </dgm:t>
    </dgm:pt>
    <dgm:pt modelId="{FABAEF92-93A4-4FA4-8B1B-5546B9FF9506}">
      <dgm:prSet/>
      <dgm:spPr/>
      <dgm:t>
        <a:bodyPr/>
        <a:lstStyle/>
        <a:p>
          <a:r>
            <a:rPr lang="es-MX" dirty="0">
              <a:latin typeface="Arial" panose="020B0604020202020204" pitchFamily="34" charset="0"/>
              <a:cs typeface="Arial" panose="020B0604020202020204" pitchFamily="34" charset="0"/>
            </a:rPr>
            <a:t>Las emociones están sustentadas por estructuras nerviosas ubicadas en el sistema límbico, el centro de la afectividad de las personas. Somos felices gracias a las hormonas que segrega nuestro cerebro: la dopamina, la serotonina, las endorfinas y la oxitocina.</a:t>
          </a:r>
        </a:p>
      </dgm:t>
    </dgm:pt>
    <dgm:pt modelId="{BF4EB823-19D3-4DB3-8133-7742320F07BF}" type="parTrans" cxnId="{6CF81BF2-FC8B-4C80-AB93-E5E3A33006D3}">
      <dgm:prSet/>
      <dgm:spPr/>
      <dgm:t>
        <a:bodyPr/>
        <a:lstStyle/>
        <a:p>
          <a:endParaRPr lang="es-PE"/>
        </a:p>
      </dgm:t>
    </dgm:pt>
    <dgm:pt modelId="{4C769BAD-2542-4EBC-907C-B364943C7DDD}" type="sibTrans" cxnId="{6CF81BF2-FC8B-4C80-AB93-E5E3A33006D3}">
      <dgm:prSet/>
      <dgm:spPr/>
      <dgm:t>
        <a:bodyPr/>
        <a:lstStyle/>
        <a:p>
          <a:endParaRPr lang="es-PE"/>
        </a:p>
      </dgm:t>
    </dgm:pt>
    <dgm:pt modelId="{E02DAF32-502B-4FBA-9A0B-2ED925A0C35C}">
      <dgm:prSet/>
      <dgm:spPr/>
      <dgm:t>
        <a:bodyPr/>
        <a:lstStyle/>
        <a:p>
          <a:r>
            <a:rPr lang="es-ES">
              <a:latin typeface="Arial" panose="020B0604020202020204" pitchFamily="34" charset="0"/>
              <a:cs typeface="Arial" panose="020B0604020202020204" pitchFamily="34" charset="0"/>
            </a:rPr>
            <a:t>Para Matthieu Ricard, si desarrollamos una conducta altruista hacia los demás, nos estaremos ayudando a nosotros mismos, pues activamos la zona del cerebro responsable de nuestro bienestar.</a:t>
          </a:r>
          <a:endParaRPr lang="es-E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52E0D9-4C4D-4FDE-A42B-405F70AA8280}" type="parTrans" cxnId="{D806B983-015B-460F-8D53-98B1C6D57256}">
      <dgm:prSet/>
      <dgm:spPr/>
      <dgm:t>
        <a:bodyPr/>
        <a:lstStyle/>
        <a:p>
          <a:endParaRPr lang="es-PE"/>
        </a:p>
      </dgm:t>
    </dgm:pt>
    <dgm:pt modelId="{46CC96D6-CFE9-436A-B0E1-CC7103F923D7}" type="sibTrans" cxnId="{D806B983-015B-460F-8D53-98B1C6D57256}">
      <dgm:prSet/>
      <dgm:spPr/>
      <dgm:t>
        <a:bodyPr/>
        <a:lstStyle/>
        <a:p>
          <a:endParaRPr lang="es-PE"/>
        </a:p>
      </dgm:t>
    </dgm:pt>
    <dgm:pt modelId="{7D6E27CF-A176-45B4-AEBC-B94D85E0FD10}">
      <dgm:prSet/>
      <dgm:spPr/>
      <dgm:t>
        <a:bodyPr/>
        <a:lstStyle/>
        <a:p>
          <a:r>
            <a:rPr lang="es-ES">
              <a:latin typeface="Arial" panose="020B0604020202020204" pitchFamily="34" charset="0"/>
              <a:cs typeface="Arial" panose="020B0604020202020204" pitchFamily="34" charset="0"/>
            </a:rPr>
            <a:t>El modelo PERMA, es una descripción de lo que las personas eligen libremente para incrementar su bienestar, pasa de estudiar la felicidad a estudiar el bienestar.</a:t>
          </a:r>
          <a:endParaRPr lang="es-E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AFF324-E641-4AED-AA20-E9345E71C8CA}" type="parTrans" cxnId="{045E4135-305B-45CE-A39A-DEE2A1A321AF}">
      <dgm:prSet/>
      <dgm:spPr/>
      <dgm:t>
        <a:bodyPr/>
        <a:lstStyle/>
        <a:p>
          <a:endParaRPr lang="es-PE"/>
        </a:p>
      </dgm:t>
    </dgm:pt>
    <dgm:pt modelId="{48033E21-C814-4671-B6C7-8F499EE2DE58}" type="sibTrans" cxnId="{045E4135-305B-45CE-A39A-DEE2A1A321AF}">
      <dgm:prSet/>
      <dgm:spPr/>
      <dgm:t>
        <a:bodyPr/>
        <a:lstStyle/>
        <a:p>
          <a:endParaRPr lang="es-PE"/>
        </a:p>
      </dgm:t>
    </dgm:pt>
    <dgm:pt modelId="{433C958F-2A12-466A-8467-9707AD13717E}" type="pres">
      <dgm:prSet presAssocID="{FC5CDBAB-C6C7-44F3-9A87-C5D69895E9B0}" presName="outerComposite" presStyleCnt="0">
        <dgm:presLayoutVars>
          <dgm:chMax val="5"/>
          <dgm:dir/>
          <dgm:resizeHandles val="exact"/>
        </dgm:presLayoutVars>
      </dgm:prSet>
      <dgm:spPr/>
    </dgm:pt>
    <dgm:pt modelId="{98A32DFE-727A-4E88-874B-1447B003D9C6}" type="pres">
      <dgm:prSet presAssocID="{FC5CDBAB-C6C7-44F3-9A87-C5D69895E9B0}" presName="dummyMaxCanvas" presStyleCnt="0">
        <dgm:presLayoutVars/>
      </dgm:prSet>
      <dgm:spPr/>
    </dgm:pt>
    <dgm:pt modelId="{D1F20C9A-36D3-4514-8881-49EF17D94BF5}" type="pres">
      <dgm:prSet presAssocID="{FC5CDBAB-C6C7-44F3-9A87-C5D69895E9B0}" presName="FourNodes_1" presStyleLbl="node1" presStyleIdx="0" presStyleCnt="4">
        <dgm:presLayoutVars>
          <dgm:bulletEnabled val="1"/>
        </dgm:presLayoutVars>
      </dgm:prSet>
      <dgm:spPr/>
    </dgm:pt>
    <dgm:pt modelId="{0A9D3AEE-F305-4395-9DC7-23D2B7B7486E}" type="pres">
      <dgm:prSet presAssocID="{FC5CDBAB-C6C7-44F3-9A87-C5D69895E9B0}" presName="FourNodes_2" presStyleLbl="node1" presStyleIdx="1" presStyleCnt="4">
        <dgm:presLayoutVars>
          <dgm:bulletEnabled val="1"/>
        </dgm:presLayoutVars>
      </dgm:prSet>
      <dgm:spPr/>
    </dgm:pt>
    <dgm:pt modelId="{6094BFB5-13D4-48EE-827C-713D56CCB489}" type="pres">
      <dgm:prSet presAssocID="{FC5CDBAB-C6C7-44F3-9A87-C5D69895E9B0}" presName="FourNodes_3" presStyleLbl="node1" presStyleIdx="2" presStyleCnt="4">
        <dgm:presLayoutVars>
          <dgm:bulletEnabled val="1"/>
        </dgm:presLayoutVars>
      </dgm:prSet>
      <dgm:spPr/>
    </dgm:pt>
    <dgm:pt modelId="{03609601-5966-482E-BED4-27EE67FB8262}" type="pres">
      <dgm:prSet presAssocID="{FC5CDBAB-C6C7-44F3-9A87-C5D69895E9B0}" presName="FourNodes_4" presStyleLbl="node1" presStyleIdx="3" presStyleCnt="4">
        <dgm:presLayoutVars>
          <dgm:bulletEnabled val="1"/>
        </dgm:presLayoutVars>
      </dgm:prSet>
      <dgm:spPr/>
    </dgm:pt>
    <dgm:pt modelId="{2DE28E11-5D97-4138-AC38-8572A6753E38}" type="pres">
      <dgm:prSet presAssocID="{FC5CDBAB-C6C7-44F3-9A87-C5D69895E9B0}" presName="FourConn_1-2" presStyleLbl="fgAccFollowNode1" presStyleIdx="0" presStyleCnt="3">
        <dgm:presLayoutVars>
          <dgm:bulletEnabled val="1"/>
        </dgm:presLayoutVars>
      </dgm:prSet>
      <dgm:spPr/>
    </dgm:pt>
    <dgm:pt modelId="{9DDBFA45-F6DB-4842-97E9-B17E6D13DECC}" type="pres">
      <dgm:prSet presAssocID="{FC5CDBAB-C6C7-44F3-9A87-C5D69895E9B0}" presName="FourConn_2-3" presStyleLbl="fgAccFollowNode1" presStyleIdx="1" presStyleCnt="3">
        <dgm:presLayoutVars>
          <dgm:bulletEnabled val="1"/>
        </dgm:presLayoutVars>
      </dgm:prSet>
      <dgm:spPr/>
    </dgm:pt>
    <dgm:pt modelId="{8F3D8198-59BC-4B77-AEE5-61C7B7A90245}" type="pres">
      <dgm:prSet presAssocID="{FC5CDBAB-C6C7-44F3-9A87-C5D69895E9B0}" presName="FourConn_3-4" presStyleLbl="fgAccFollowNode1" presStyleIdx="2" presStyleCnt="3">
        <dgm:presLayoutVars>
          <dgm:bulletEnabled val="1"/>
        </dgm:presLayoutVars>
      </dgm:prSet>
      <dgm:spPr/>
    </dgm:pt>
    <dgm:pt modelId="{D2C7FF37-843C-460C-9FA8-55866C95382A}" type="pres">
      <dgm:prSet presAssocID="{FC5CDBAB-C6C7-44F3-9A87-C5D69895E9B0}" presName="FourNodes_1_text" presStyleLbl="node1" presStyleIdx="3" presStyleCnt="4">
        <dgm:presLayoutVars>
          <dgm:bulletEnabled val="1"/>
        </dgm:presLayoutVars>
      </dgm:prSet>
      <dgm:spPr/>
    </dgm:pt>
    <dgm:pt modelId="{39AC788D-BECD-4CD7-8411-302A61742E00}" type="pres">
      <dgm:prSet presAssocID="{FC5CDBAB-C6C7-44F3-9A87-C5D69895E9B0}" presName="FourNodes_2_text" presStyleLbl="node1" presStyleIdx="3" presStyleCnt="4">
        <dgm:presLayoutVars>
          <dgm:bulletEnabled val="1"/>
        </dgm:presLayoutVars>
      </dgm:prSet>
      <dgm:spPr/>
    </dgm:pt>
    <dgm:pt modelId="{001807A5-CFDA-426E-9DCA-4722F8EC43F3}" type="pres">
      <dgm:prSet presAssocID="{FC5CDBAB-C6C7-44F3-9A87-C5D69895E9B0}" presName="FourNodes_3_text" presStyleLbl="node1" presStyleIdx="3" presStyleCnt="4">
        <dgm:presLayoutVars>
          <dgm:bulletEnabled val="1"/>
        </dgm:presLayoutVars>
      </dgm:prSet>
      <dgm:spPr/>
    </dgm:pt>
    <dgm:pt modelId="{597D3217-31A1-4A19-8048-4ABCED0E279E}" type="pres">
      <dgm:prSet presAssocID="{FC5CDBAB-C6C7-44F3-9A87-C5D69895E9B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9072321-ABC8-4925-9180-002447373EA3}" type="presOf" srcId="{7D6E27CF-A176-45B4-AEBC-B94D85E0FD10}" destId="{03609601-5966-482E-BED4-27EE67FB8262}" srcOrd="0" destOrd="0" presId="urn:microsoft.com/office/officeart/2005/8/layout/vProcess5"/>
    <dgm:cxn modelId="{12CFF32C-C357-40F0-9457-BCA8EA7FF4A0}" type="presOf" srcId="{151B0B3A-4FC1-48B2-A7C4-4B34A22F0F33}" destId="{2DE28E11-5D97-4138-AC38-8572A6753E38}" srcOrd="0" destOrd="0" presId="urn:microsoft.com/office/officeart/2005/8/layout/vProcess5"/>
    <dgm:cxn modelId="{045E4135-305B-45CE-A39A-DEE2A1A321AF}" srcId="{FC5CDBAB-C6C7-44F3-9A87-C5D69895E9B0}" destId="{7D6E27CF-A176-45B4-AEBC-B94D85E0FD10}" srcOrd="3" destOrd="0" parTransId="{23AFF324-E641-4AED-AA20-E9345E71C8CA}" sibTransId="{48033E21-C814-4671-B6C7-8F499EE2DE58}"/>
    <dgm:cxn modelId="{B6EBD45B-0C15-4DD5-86F9-19DCFA92C896}" type="presOf" srcId="{40E554BE-56DF-43BB-B055-538EADFA2E62}" destId="{D1F20C9A-36D3-4514-8881-49EF17D94BF5}" srcOrd="0" destOrd="0" presId="urn:microsoft.com/office/officeart/2005/8/layout/vProcess5"/>
    <dgm:cxn modelId="{1692B947-DF25-42F6-89A3-8C3122EBE46D}" type="presOf" srcId="{FABAEF92-93A4-4FA4-8B1B-5546B9FF9506}" destId="{0A9D3AEE-F305-4395-9DC7-23D2B7B7486E}" srcOrd="0" destOrd="0" presId="urn:microsoft.com/office/officeart/2005/8/layout/vProcess5"/>
    <dgm:cxn modelId="{BF8FCC6F-019C-4DB2-8ED1-74075EC55103}" type="presOf" srcId="{FC5CDBAB-C6C7-44F3-9A87-C5D69895E9B0}" destId="{433C958F-2A12-466A-8467-9707AD13717E}" srcOrd="0" destOrd="0" presId="urn:microsoft.com/office/officeart/2005/8/layout/vProcess5"/>
    <dgm:cxn modelId="{55993C7C-EF9A-4848-890C-0FE73DA9294F}" type="presOf" srcId="{40E554BE-56DF-43BB-B055-538EADFA2E62}" destId="{D2C7FF37-843C-460C-9FA8-55866C95382A}" srcOrd="1" destOrd="0" presId="urn:microsoft.com/office/officeart/2005/8/layout/vProcess5"/>
    <dgm:cxn modelId="{D806B983-015B-460F-8D53-98B1C6D57256}" srcId="{FC5CDBAB-C6C7-44F3-9A87-C5D69895E9B0}" destId="{E02DAF32-502B-4FBA-9A0B-2ED925A0C35C}" srcOrd="2" destOrd="0" parTransId="{3252E0D9-4C4D-4FDE-A42B-405F70AA8280}" sibTransId="{46CC96D6-CFE9-436A-B0E1-CC7103F923D7}"/>
    <dgm:cxn modelId="{EE22DF8C-8C52-478D-9255-DD1A200D8A89}" type="presOf" srcId="{FABAEF92-93A4-4FA4-8B1B-5546B9FF9506}" destId="{39AC788D-BECD-4CD7-8411-302A61742E00}" srcOrd="1" destOrd="0" presId="urn:microsoft.com/office/officeart/2005/8/layout/vProcess5"/>
    <dgm:cxn modelId="{933AE0A4-42A6-4EBE-8164-F35D69D0A596}" type="presOf" srcId="{4C769BAD-2542-4EBC-907C-B364943C7DDD}" destId="{9DDBFA45-F6DB-4842-97E9-B17E6D13DECC}" srcOrd="0" destOrd="0" presId="urn:microsoft.com/office/officeart/2005/8/layout/vProcess5"/>
    <dgm:cxn modelId="{0A083CC1-CC22-4D5A-9E38-84A2B95E02BB}" srcId="{FC5CDBAB-C6C7-44F3-9A87-C5D69895E9B0}" destId="{40E554BE-56DF-43BB-B055-538EADFA2E62}" srcOrd="0" destOrd="0" parTransId="{FB3CF2DA-30F6-42A7-AD44-E798C152386F}" sibTransId="{151B0B3A-4FC1-48B2-A7C4-4B34A22F0F33}"/>
    <dgm:cxn modelId="{BBC660D2-3E6A-4A7B-9607-991FA170F372}" type="presOf" srcId="{E02DAF32-502B-4FBA-9A0B-2ED925A0C35C}" destId="{001807A5-CFDA-426E-9DCA-4722F8EC43F3}" srcOrd="1" destOrd="0" presId="urn:microsoft.com/office/officeart/2005/8/layout/vProcess5"/>
    <dgm:cxn modelId="{D3A623DE-FFF7-4034-9E0B-ED1E6B440630}" type="presOf" srcId="{46CC96D6-CFE9-436A-B0E1-CC7103F923D7}" destId="{8F3D8198-59BC-4B77-AEE5-61C7B7A90245}" srcOrd="0" destOrd="0" presId="urn:microsoft.com/office/officeart/2005/8/layout/vProcess5"/>
    <dgm:cxn modelId="{F06BD0F0-4AEC-4B45-BF3D-7CEF2E356522}" type="presOf" srcId="{7D6E27CF-A176-45B4-AEBC-B94D85E0FD10}" destId="{597D3217-31A1-4A19-8048-4ABCED0E279E}" srcOrd="1" destOrd="0" presId="urn:microsoft.com/office/officeart/2005/8/layout/vProcess5"/>
    <dgm:cxn modelId="{6CF81BF2-FC8B-4C80-AB93-E5E3A33006D3}" srcId="{FC5CDBAB-C6C7-44F3-9A87-C5D69895E9B0}" destId="{FABAEF92-93A4-4FA4-8B1B-5546B9FF9506}" srcOrd="1" destOrd="0" parTransId="{BF4EB823-19D3-4DB3-8133-7742320F07BF}" sibTransId="{4C769BAD-2542-4EBC-907C-B364943C7DDD}"/>
    <dgm:cxn modelId="{CA4615FD-FB74-434D-A1E8-3BB15EE3F773}" type="presOf" srcId="{E02DAF32-502B-4FBA-9A0B-2ED925A0C35C}" destId="{6094BFB5-13D4-48EE-827C-713D56CCB489}" srcOrd="0" destOrd="0" presId="urn:microsoft.com/office/officeart/2005/8/layout/vProcess5"/>
    <dgm:cxn modelId="{A6F9A65F-6F56-44B2-910F-34A1DE65ECD8}" type="presParOf" srcId="{433C958F-2A12-466A-8467-9707AD13717E}" destId="{98A32DFE-727A-4E88-874B-1447B003D9C6}" srcOrd="0" destOrd="0" presId="urn:microsoft.com/office/officeart/2005/8/layout/vProcess5"/>
    <dgm:cxn modelId="{E44937FF-9C26-414C-804C-EAE222B870CF}" type="presParOf" srcId="{433C958F-2A12-466A-8467-9707AD13717E}" destId="{D1F20C9A-36D3-4514-8881-49EF17D94BF5}" srcOrd="1" destOrd="0" presId="urn:microsoft.com/office/officeart/2005/8/layout/vProcess5"/>
    <dgm:cxn modelId="{E7A23F22-AEE4-48DC-8E24-D3A65FC2103A}" type="presParOf" srcId="{433C958F-2A12-466A-8467-9707AD13717E}" destId="{0A9D3AEE-F305-4395-9DC7-23D2B7B7486E}" srcOrd="2" destOrd="0" presId="urn:microsoft.com/office/officeart/2005/8/layout/vProcess5"/>
    <dgm:cxn modelId="{2952636C-6D5A-41CD-9917-2EDC0067EBF7}" type="presParOf" srcId="{433C958F-2A12-466A-8467-9707AD13717E}" destId="{6094BFB5-13D4-48EE-827C-713D56CCB489}" srcOrd="3" destOrd="0" presId="urn:microsoft.com/office/officeart/2005/8/layout/vProcess5"/>
    <dgm:cxn modelId="{530660F9-1DFB-4034-AF30-413E4757767E}" type="presParOf" srcId="{433C958F-2A12-466A-8467-9707AD13717E}" destId="{03609601-5966-482E-BED4-27EE67FB8262}" srcOrd="4" destOrd="0" presId="urn:microsoft.com/office/officeart/2005/8/layout/vProcess5"/>
    <dgm:cxn modelId="{2B57C835-CDA0-420A-B2EA-92A36B51DE7E}" type="presParOf" srcId="{433C958F-2A12-466A-8467-9707AD13717E}" destId="{2DE28E11-5D97-4138-AC38-8572A6753E38}" srcOrd="5" destOrd="0" presId="urn:microsoft.com/office/officeart/2005/8/layout/vProcess5"/>
    <dgm:cxn modelId="{E60B7F6D-A19C-434E-BF94-4056AE6A0E1E}" type="presParOf" srcId="{433C958F-2A12-466A-8467-9707AD13717E}" destId="{9DDBFA45-F6DB-4842-97E9-B17E6D13DECC}" srcOrd="6" destOrd="0" presId="urn:microsoft.com/office/officeart/2005/8/layout/vProcess5"/>
    <dgm:cxn modelId="{28268049-58C5-47CF-BBB9-5C56118912A5}" type="presParOf" srcId="{433C958F-2A12-466A-8467-9707AD13717E}" destId="{8F3D8198-59BC-4B77-AEE5-61C7B7A90245}" srcOrd="7" destOrd="0" presId="urn:microsoft.com/office/officeart/2005/8/layout/vProcess5"/>
    <dgm:cxn modelId="{725D1128-A8D2-4FC1-AC78-E1C58F7CB2E9}" type="presParOf" srcId="{433C958F-2A12-466A-8467-9707AD13717E}" destId="{D2C7FF37-843C-460C-9FA8-55866C95382A}" srcOrd="8" destOrd="0" presId="urn:microsoft.com/office/officeart/2005/8/layout/vProcess5"/>
    <dgm:cxn modelId="{54FCD241-7BCE-447B-88E4-DE654674DD36}" type="presParOf" srcId="{433C958F-2A12-466A-8467-9707AD13717E}" destId="{39AC788D-BECD-4CD7-8411-302A61742E00}" srcOrd="9" destOrd="0" presId="urn:microsoft.com/office/officeart/2005/8/layout/vProcess5"/>
    <dgm:cxn modelId="{65CB20E4-5674-4F4C-A8AB-CDE7AFCDCAB5}" type="presParOf" srcId="{433C958F-2A12-466A-8467-9707AD13717E}" destId="{001807A5-CFDA-426E-9DCA-4722F8EC43F3}" srcOrd="10" destOrd="0" presId="urn:microsoft.com/office/officeart/2005/8/layout/vProcess5"/>
    <dgm:cxn modelId="{1A7E65BA-4BD6-4CE4-9060-01D781B42274}" type="presParOf" srcId="{433C958F-2A12-466A-8467-9707AD13717E}" destId="{597D3217-31A1-4A19-8048-4ABCED0E279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20C9A-36D3-4514-8881-49EF17D94BF5}">
      <dsp:nvSpPr>
        <dsp:cNvPr id="0" name=""/>
        <dsp:cNvSpPr/>
      </dsp:nvSpPr>
      <dsp:spPr>
        <a:xfrm>
          <a:off x="0" y="0"/>
          <a:ext cx="6706172" cy="1192106"/>
        </a:xfrm>
        <a:prstGeom prst="roundRect">
          <a:avLst>
            <a:gd name="adj" fmla="val 10000"/>
          </a:avLst>
        </a:prstGeom>
        <a:solidFill>
          <a:srgbClr val="FFFF4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500" b="0" i="0" kern="12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Seligman, en su teoría inicial, propone las tres vías hacia la felicidad relacionadas con la satisfacción: la vida placentera, la vida comprometida y la vida trascendente.</a:t>
          </a:r>
          <a:endParaRPr lang="es-PE" sz="1500" kern="1200" dirty="0">
            <a:solidFill>
              <a:schemeClr val="tx1">
                <a:lumMod val="50000"/>
                <a:lumOff val="50000"/>
              </a:schemeClr>
            </a:solidFill>
          </a:endParaRPr>
        </a:p>
      </dsp:txBody>
      <dsp:txXfrm>
        <a:off x="34916" y="34916"/>
        <a:ext cx="5319062" cy="1122274"/>
      </dsp:txXfrm>
    </dsp:sp>
    <dsp:sp modelId="{0A9D3AEE-F305-4395-9DC7-23D2B7B7486E}">
      <dsp:nvSpPr>
        <dsp:cNvPr id="0" name=""/>
        <dsp:cNvSpPr/>
      </dsp:nvSpPr>
      <dsp:spPr>
        <a:xfrm>
          <a:off x="561641" y="1408853"/>
          <a:ext cx="6706172" cy="1192106"/>
        </a:xfrm>
        <a:prstGeom prst="roundRect">
          <a:avLst>
            <a:gd name="adj" fmla="val 10000"/>
          </a:avLst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>
              <a:latin typeface="Arial" panose="020B0604020202020204" pitchFamily="34" charset="0"/>
              <a:cs typeface="Arial" panose="020B0604020202020204" pitchFamily="34" charset="0"/>
            </a:rPr>
            <a:t>Las emociones están sustentadas por estructuras nerviosas ubicadas en el sistema límbico, el centro de la afectividad de las personas. Somos felices gracias a las hormonas que segrega nuestro cerebro: la dopamina, la serotonina, las endorfinas y la oxitocina.</a:t>
          </a:r>
        </a:p>
      </dsp:txBody>
      <dsp:txXfrm>
        <a:off x="596557" y="1443769"/>
        <a:ext cx="5299829" cy="1122274"/>
      </dsp:txXfrm>
    </dsp:sp>
    <dsp:sp modelId="{6094BFB5-13D4-48EE-827C-713D56CCB489}">
      <dsp:nvSpPr>
        <dsp:cNvPr id="0" name=""/>
        <dsp:cNvSpPr/>
      </dsp:nvSpPr>
      <dsp:spPr>
        <a:xfrm>
          <a:off x="1114901" y="2817706"/>
          <a:ext cx="6706172" cy="1192106"/>
        </a:xfrm>
        <a:prstGeom prst="roundRect">
          <a:avLst>
            <a:gd name="adj" fmla="val 10000"/>
          </a:avLst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>
              <a:latin typeface="Arial" panose="020B0604020202020204" pitchFamily="34" charset="0"/>
              <a:cs typeface="Arial" panose="020B0604020202020204" pitchFamily="34" charset="0"/>
            </a:rPr>
            <a:t>Para Matthieu Ricard, si desarrollamos una conducta altruista hacia los demás, nos estaremos ayudando a nosotros mismos, pues activamos la zona del cerebro responsable de nuestro bienestar.</a:t>
          </a:r>
          <a:endParaRPr lang="es-ES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49817" y="2852622"/>
        <a:ext cx="5308212" cy="1122274"/>
      </dsp:txXfrm>
    </dsp:sp>
    <dsp:sp modelId="{03609601-5966-482E-BED4-27EE67FB8262}">
      <dsp:nvSpPr>
        <dsp:cNvPr id="0" name=""/>
        <dsp:cNvSpPr/>
      </dsp:nvSpPr>
      <dsp:spPr>
        <a:xfrm>
          <a:off x="1676543" y="4226560"/>
          <a:ext cx="6706172" cy="1192106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>
              <a:latin typeface="Arial" panose="020B0604020202020204" pitchFamily="34" charset="0"/>
              <a:cs typeface="Arial" panose="020B0604020202020204" pitchFamily="34" charset="0"/>
            </a:rPr>
            <a:t>El modelo PERMA, es una descripción de lo que las personas eligen libremente para incrementar su bienestar, pasa de estudiar la felicidad a estudiar el bienestar.</a:t>
          </a:r>
          <a:endParaRPr lang="es-ES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11459" y="4261476"/>
        <a:ext cx="5299829" cy="1122274"/>
      </dsp:txXfrm>
    </dsp:sp>
    <dsp:sp modelId="{2DE28E11-5D97-4138-AC38-8572A6753E38}">
      <dsp:nvSpPr>
        <dsp:cNvPr id="0" name=""/>
        <dsp:cNvSpPr/>
      </dsp:nvSpPr>
      <dsp:spPr>
        <a:xfrm>
          <a:off x="5931303" y="913045"/>
          <a:ext cx="774869" cy="774869"/>
        </a:xfrm>
        <a:prstGeom prst="downArrow">
          <a:avLst>
            <a:gd name="adj1" fmla="val 55000"/>
            <a:gd name="adj2" fmla="val 45000"/>
          </a:avLst>
        </a:prstGeom>
        <a:solidFill>
          <a:srgbClr val="FFFF99">
            <a:alpha val="90000"/>
          </a:srgb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3500" kern="1200"/>
        </a:p>
      </dsp:txBody>
      <dsp:txXfrm>
        <a:off x="6105649" y="913045"/>
        <a:ext cx="426177" cy="583089"/>
      </dsp:txXfrm>
    </dsp:sp>
    <dsp:sp modelId="{9DDBFA45-F6DB-4842-97E9-B17E6D13DECC}">
      <dsp:nvSpPr>
        <dsp:cNvPr id="0" name=""/>
        <dsp:cNvSpPr/>
      </dsp:nvSpPr>
      <dsp:spPr>
        <a:xfrm>
          <a:off x="6492945" y="2321898"/>
          <a:ext cx="774869" cy="77486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5430963"/>
            <a:satOff val="-25622"/>
            <a:lumOff val="-92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430963"/>
              <a:satOff val="-25622"/>
              <a:lumOff val="-9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3500" kern="1200"/>
        </a:p>
      </dsp:txBody>
      <dsp:txXfrm>
        <a:off x="6667291" y="2321898"/>
        <a:ext cx="426177" cy="583089"/>
      </dsp:txXfrm>
    </dsp:sp>
    <dsp:sp modelId="{8F3D8198-59BC-4B77-AEE5-61C7B7A90245}">
      <dsp:nvSpPr>
        <dsp:cNvPr id="0" name=""/>
        <dsp:cNvSpPr/>
      </dsp:nvSpPr>
      <dsp:spPr>
        <a:xfrm>
          <a:off x="7046204" y="3730752"/>
          <a:ext cx="774869" cy="77486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3500" kern="1200"/>
        </a:p>
      </dsp:txBody>
      <dsp:txXfrm>
        <a:off x="7220550" y="3730752"/>
        <a:ext cx="426177" cy="583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558F5-3763-4A4B-9A9A-772145C912AC}" type="datetimeFigureOut">
              <a:rPr lang="es-PE" smtClean="0"/>
              <a:t>21/04/2022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31FF8-CA3C-4593-A64D-0D84A55B8B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052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+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280FB-651A-479F-A249-C02094A29ACD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6311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94F4494-60A8-F94B-ADEC-907EF815E6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02334" y="1565314"/>
            <a:ext cx="6410438" cy="372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7936180-6920-A440-8DBC-4234BA90CC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5650" y="521959"/>
            <a:ext cx="358109" cy="565436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A2F3ED2E-A88C-5745-A1DB-DC408573E0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30" y="280064"/>
            <a:ext cx="10515600" cy="6142001"/>
          </a:xfrm>
          <a:prstGeom prst="rect">
            <a:avLst/>
          </a:prstGeom>
        </p:spPr>
        <p:txBody>
          <a:bodyPr/>
          <a:lstStyle>
            <a:lvl1pPr>
              <a:defRPr sz="13000" b="1" i="0">
                <a:solidFill>
                  <a:schemeClr val="bg1"/>
                </a:solidFill>
                <a:latin typeface="Sharp Grotesk Bold 15" pitchFamily="2" charset="77"/>
              </a:defRPr>
            </a:lvl1pPr>
          </a:lstStyle>
          <a:p>
            <a:r>
              <a:rPr lang="es-MX" dirty="0"/>
              <a:t>PON AQUÍ</a:t>
            </a:r>
            <a:br>
              <a:rPr lang="es-MX" dirty="0"/>
            </a:br>
            <a:r>
              <a:rPr lang="es-MX" dirty="0"/>
              <a:t>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4127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A62614D-B318-9B49-AC78-074B9FFF9D6D}"/>
              </a:ext>
            </a:extLst>
          </p:cNvPr>
          <p:cNvSpPr/>
          <p:nvPr userDrawn="1"/>
        </p:nvSpPr>
        <p:spPr>
          <a:xfrm>
            <a:off x="0" y="3848986"/>
            <a:ext cx="12241619" cy="30090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C2DC12-AF05-A143-8621-528D1B9A95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1107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defRPr sz="11500" b="1" i="0">
                <a:solidFill>
                  <a:schemeClr val="bg1"/>
                </a:solidFill>
                <a:latin typeface="Sharp Grotesk Bold 15" pitchFamily="2" charset="77"/>
              </a:defRPr>
            </a:lvl1pPr>
          </a:lstStyle>
          <a:p>
            <a:r>
              <a:rPr lang="es-MX" dirty="0"/>
              <a:t>AQUÍ VA EL</a:t>
            </a:r>
            <a:br>
              <a:rPr lang="es-MX" dirty="0"/>
            </a:br>
            <a:r>
              <a:rPr lang="es-MX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B032AA-93EF-5740-995C-2DC0B2CD73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1107" y="4907756"/>
            <a:ext cx="9144000" cy="1655762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4800" b="1" i="0">
                <a:solidFill>
                  <a:schemeClr val="tx1"/>
                </a:solidFill>
                <a:latin typeface="Sharp Grotesk SemiBold 15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AQUÍ VA EL SUBTÍTULO</a:t>
            </a:r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385E4DA-ED05-BD47-9617-87BA2EA873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5650" y="521959"/>
            <a:ext cx="358109" cy="56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2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B87CD67-DBC4-0245-BA01-94A55FCC33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88092"/>
            <a:ext cx="11360320" cy="6734432"/>
          </a:xfrm>
          <a:prstGeom prst="rect">
            <a:avLst/>
          </a:prstGeom>
        </p:spPr>
      </p:pic>
      <p:sp>
        <p:nvSpPr>
          <p:cNvPr id="12" name="Marcador de contenido 1">
            <a:extLst>
              <a:ext uri="{FF2B5EF4-FFF2-40B4-BE49-F238E27FC236}">
                <a16:creationId xmlns:a16="http://schemas.microsoft.com/office/drawing/2014/main" id="{BF080DA7-716D-E14B-992D-32256A413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>
                <a:latin typeface="Telegraf" pitchFamily="2" charset="77"/>
              </a:defRPr>
            </a:lvl1pPr>
          </a:lstStyle>
          <a:p>
            <a:r>
              <a:rPr lang="es-PE" sz="1600" dirty="0"/>
              <a:t>Aquí escribe tu texto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4DF5025-7040-1D44-A59E-0190DC0F97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214" y="403086"/>
            <a:ext cx="9144000" cy="451256"/>
          </a:xfrm>
          <a:prstGeom prst="rect">
            <a:avLst/>
          </a:prstGeom>
        </p:spPr>
        <p:txBody>
          <a:bodyPr anchor="b"/>
          <a:lstStyle>
            <a:lvl1pPr algn="l">
              <a:defRPr sz="2600" b="1" i="0">
                <a:solidFill>
                  <a:schemeClr val="bg1"/>
                </a:solidFill>
                <a:latin typeface="Sharp Grotesk SemiBold 15" pitchFamily="2" charset="77"/>
              </a:defRPr>
            </a:lvl1pPr>
          </a:lstStyle>
          <a:p>
            <a:r>
              <a:rPr lang="es-MX" dirty="0"/>
              <a:t>AQUÍ VA 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1124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5B736E5-2EFE-1644-B6C2-05E4C46001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948" y="291353"/>
            <a:ext cx="11363747" cy="6736464"/>
          </a:xfrm>
          <a:prstGeom prst="rect">
            <a:avLst/>
          </a:prstGeom>
        </p:spPr>
      </p:pic>
      <p:sp>
        <p:nvSpPr>
          <p:cNvPr id="7" name="Marcador de contenido 1">
            <a:extLst>
              <a:ext uri="{FF2B5EF4-FFF2-40B4-BE49-F238E27FC236}">
                <a16:creationId xmlns:a16="http://schemas.microsoft.com/office/drawing/2014/main" id="{7A8BB5C6-A5C5-AE4C-814E-04C40E329B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  <a:latin typeface="Telegraf" pitchFamily="2" charset="77"/>
              </a:defRPr>
            </a:lvl1pPr>
          </a:lstStyle>
          <a:p>
            <a:pPr marL="0" indent="0">
              <a:buNone/>
            </a:pPr>
            <a:r>
              <a:rPr lang="es-PE" sz="1600" dirty="0"/>
              <a:t>Aquí escribe tu texto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455A7D5-225A-1240-935E-3FC73FF0C3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214" y="403086"/>
            <a:ext cx="9144000" cy="451256"/>
          </a:xfrm>
          <a:prstGeom prst="rect">
            <a:avLst/>
          </a:prstGeom>
        </p:spPr>
        <p:txBody>
          <a:bodyPr anchor="b"/>
          <a:lstStyle>
            <a:lvl1pPr algn="l">
              <a:defRPr sz="2600" b="1" i="0">
                <a:solidFill>
                  <a:schemeClr val="tx1"/>
                </a:solidFill>
                <a:latin typeface="Sharp Grotesk SemiBold 15" pitchFamily="2" charset="77"/>
              </a:defRPr>
            </a:lvl1pPr>
          </a:lstStyle>
          <a:p>
            <a:r>
              <a:rPr lang="es-MX" dirty="0"/>
              <a:t>AQUÍ VA 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3060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A5CED1-12BB-4048-9010-3BAB684D76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750" y="295422"/>
            <a:ext cx="11390786" cy="6752492"/>
          </a:xfrm>
          <a:prstGeom prst="rect">
            <a:avLst/>
          </a:prstGeom>
        </p:spPr>
      </p:pic>
      <p:sp>
        <p:nvSpPr>
          <p:cNvPr id="12" name="Marcador de contenido 1">
            <a:extLst>
              <a:ext uri="{FF2B5EF4-FFF2-40B4-BE49-F238E27FC236}">
                <a16:creationId xmlns:a16="http://schemas.microsoft.com/office/drawing/2014/main" id="{BF080DA7-716D-E14B-992D-32256A413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>
                <a:latin typeface="Telegraf" pitchFamily="2" charset="77"/>
              </a:defRPr>
            </a:lvl1pPr>
          </a:lstStyle>
          <a:p>
            <a:r>
              <a:rPr lang="es-PE" sz="1600" dirty="0"/>
              <a:t>Aquí escribe tu texto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2A9A36F-45BA-1A47-9679-13B7999899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214" y="403086"/>
            <a:ext cx="9144000" cy="451256"/>
          </a:xfrm>
          <a:prstGeom prst="rect">
            <a:avLst/>
          </a:prstGeom>
        </p:spPr>
        <p:txBody>
          <a:bodyPr anchor="b"/>
          <a:lstStyle>
            <a:lvl1pPr algn="l">
              <a:defRPr sz="2600" b="1" i="0">
                <a:solidFill>
                  <a:srgbClr val="FFC000"/>
                </a:solidFill>
                <a:latin typeface="Sharp Grotesk SemiBold 15" pitchFamily="2" charset="77"/>
              </a:defRPr>
            </a:lvl1pPr>
          </a:lstStyle>
          <a:p>
            <a:r>
              <a:rPr lang="es-MX" dirty="0"/>
              <a:t>AQUÍ VA 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2376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5BE4CB1-6B47-784C-A035-FCB070F18C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749" y="312160"/>
            <a:ext cx="11362549" cy="6735754"/>
          </a:xfrm>
          <a:prstGeom prst="rect">
            <a:avLst/>
          </a:prstGeom>
        </p:spPr>
      </p:pic>
      <p:sp>
        <p:nvSpPr>
          <p:cNvPr id="9" name="Marcador de contenido 1">
            <a:extLst>
              <a:ext uri="{FF2B5EF4-FFF2-40B4-BE49-F238E27FC236}">
                <a16:creationId xmlns:a16="http://schemas.microsoft.com/office/drawing/2014/main" id="{DE5ECC0C-7818-2641-88D5-363A2C74807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>
                <a:latin typeface="Telegraf" pitchFamily="2" charset="77"/>
              </a:defRPr>
            </a:lvl1pPr>
          </a:lstStyle>
          <a:p>
            <a:r>
              <a:rPr lang="es-PE" sz="1600" dirty="0"/>
              <a:t>Aquí escribe tu texto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C7D6BDD-E309-0B4B-8A99-02B6F163CB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214" y="403086"/>
            <a:ext cx="9144000" cy="451256"/>
          </a:xfrm>
          <a:prstGeom prst="rect">
            <a:avLst/>
          </a:prstGeom>
        </p:spPr>
        <p:txBody>
          <a:bodyPr anchor="b"/>
          <a:lstStyle>
            <a:lvl1pPr algn="l">
              <a:defRPr sz="2600" b="1" i="0">
                <a:solidFill>
                  <a:schemeClr val="tx1"/>
                </a:solidFill>
                <a:latin typeface="Sharp Grotesk SemiBold 15" pitchFamily="2" charset="77"/>
              </a:defRPr>
            </a:lvl1pPr>
          </a:lstStyle>
          <a:p>
            <a:r>
              <a:rPr lang="es-MX" dirty="0"/>
              <a:t>AQUÍ VA 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3817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5E9878E-430E-CE44-AF63-5C6DFBFA4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02334" y="1570456"/>
            <a:ext cx="6410438" cy="371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98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79" r:id="rId3"/>
    <p:sldLayoutId id="2147483653" r:id="rId4"/>
    <p:sldLayoutId id="2147483654" r:id="rId5"/>
    <p:sldLayoutId id="2147483666" r:id="rId6"/>
    <p:sldLayoutId id="2147483678" r:id="rId7"/>
    <p:sldLayoutId id="21474836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harp Grotesk Book 2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pn.blackboard.com/ultra/courses/_1448048_1/outline/lti/launchFrame?toolHref=https:~2F~2Fupn.blackboard.com~2Fwebapps~2Fblackboard~2Fexecute~2Fblti~2FlaunchLink%3Fcourse_id%3D_1448048_1%26content_id%3D_21956827_1%26from_ultra%3Dtrue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wTIqlZe-ets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73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F341F-1F4E-E54D-8B18-D84C39E4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82" y="372208"/>
            <a:ext cx="10515600" cy="5985229"/>
          </a:xfrm>
        </p:spPr>
        <p:txBody>
          <a:bodyPr/>
          <a:lstStyle/>
          <a:p>
            <a:r>
              <a:rPr lang="es-PE" sz="6000" dirty="0">
                <a:latin typeface="Arial" panose="020B0604020202020204" pitchFamily="34" charset="0"/>
                <a:cs typeface="Arial" panose="020B0604020202020204" pitchFamily="34" charset="0"/>
              </a:rPr>
              <a:t>Psicología de la Felicidad</a:t>
            </a:r>
          </a:p>
        </p:txBody>
      </p:sp>
      <p:sp>
        <p:nvSpPr>
          <p:cNvPr id="5" name="2 Marcador de texto"/>
          <p:cNvSpPr txBox="1">
            <a:spLocks/>
          </p:cNvSpPr>
          <p:nvPr/>
        </p:nvSpPr>
        <p:spPr>
          <a:xfrm>
            <a:off x="990667" y="2048215"/>
            <a:ext cx="2839237" cy="7723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PE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PE" sz="2000" dirty="0">
                <a:solidFill>
                  <a:schemeClr val="bg1"/>
                </a:solidFill>
                <a:latin typeface="Arial" panose="020B0604020202020204" pitchFamily="34" charset="0"/>
              </a:rPr>
              <a:t>Semana 05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4 Marcador de texto"/>
          <p:cNvSpPr txBox="1">
            <a:spLocks/>
          </p:cNvSpPr>
          <p:nvPr/>
        </p:nvSpPr>
        <p:spPr>
          <a:xfrm>
            <a:off x="990668" y="6041292"/>
            <a:ext cx="5742235" cy="444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US" sz="2400" dirty="0">
                <a:solidFill>
                  <a:schemeClr val="bg1"/>
                </a:solidFill>
                <a:latin typeface="Arial" panose="020B0604020202020204" pitchFamily="34" charset="0"/>
              </a:rPr>
              <a:t>Universidad Privada del Norte  2022-1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2 Marcador de texto">
            <a:extLst>
              <a:ext uri="{FF2B5EF4-FFF2-40B4-BE49-F238E27FC236}">
                <a16:creationId xmlns:a16="http://schemas.microsoft.com/office/drawing/2014/main" id="{C4130B1F-069F-4AE6-A654-6560BA71CC4E}"/>
              </a:ext>
            </a:extLst>
          </p:cNvPr>
          <p:cNvSpPr txBox="1">
            <a:spLocks/>
          </p:cNvSpPr>
          <p:nvPr/>
        </p:nvSpPr>
        <p:spPr>
          <a:xfrm>
            <a:off x="990668" y="3042821"/>
            <a:ext cx="2839237" cy="7723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PE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PE" sz="2000" dirty="0">
                <a:solidFill>
                  <a:schemeClr val="bg1"/>
                </a:solidFill>
                <a:latin typeface="Arial" panose="020B0604020202020204" pitchFamily="34" charset="0"/>
              </a:rPr>
              <a:t>Módulo 04</a:t>
            </a: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2 Marcador de texto">
            <a:extLst>
              <a:ext uri="{FF2B5EF4-FFF2-40B4-BE49-F238E27FC236}">
                <a16:creationId xmlns:a16="http://schemas.microsoft.com/office/drawing/2014/main" id="{3E9093F9-04FC-4C57-AA34-C9D918BE8580}"/>
              </a:ext>
            </a:extLst>
          </p:cNvPr>
          <p:cNvSpPr txBox="1">
            <a:spLocks/>
          </p:cNvSpPr>
          <p:nvPr/>
        </p:nvSpPr>
        <p:spPr>
          <a:xfrm>
            <a:off x="1022548" y="4044753"/>
            <a:ext cx="2839237" cy="7723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PE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PE" sz="2000" dirty="0">
                <a:solidFill>
                  <a:schemeClr val="bg1"/>
                </a:solidFill>
                <a:latin typeface="Arial" panose="020B0604020202020204" pitchFamily="34" charset="0"/>
              </a:rPr>
              <a:t>Videoconferencia</a:t>
            </a:r>
            <a:r>
              <a:rPr lang="es-PE" sz="2000" dirty="0">
                <a:latin typeface="Arial" panose="020B0604020202020204" pitchFamily="34" charset="0"/>
              </a:rPr>
              <a:t> </a:t>
            </a:r>
            <a:r>
              <a:rPr lang="es-PE" sz="2000" dirty="0">
                <a:solidFill>
                  <a:schemeClr val="bg1"/>
                </a:solidFill>
                <a:latin typeface="Arial" panose="020B0604020202020204" pitchFamily="34" charset="0"/>
              </a:rPr>
              <a:t>05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76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E1F38-5FAF-0740-ACC2-7E668903D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sz="8000" dirty="0">
                <a:latin typeface="Arial" panose="020B0604020202020204" pitchFamily="34" charset="0"/>
                <a:cs typeface="Arial" panose="020B0604020202020204" pitchFamily="34" charset="0"/>
              </a:rPr>
              <a:t>Módulo 04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696BA6-31BD-E445-AB32-5A881A7F6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8672" y="4375096"/>
            <a:ext cx="10294656" cy="1655762"/>
          </a:xfrm>
        </p:spPr>
        <p:txBody>
          <a:bodyPr/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Felicidad: Las emociones y el cerebro humano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42400" y="190475"/>
            <a:ext cx="4715826" cy="1097070"/>
          </a:xfrm>
        </p:spPr>
        <p:txBody>
          <a:bodyPr/>
          <a:lstStyle/>
          <a:p>
            <a:r>
              <a:rPr lang="es-PE" sz="4000" dirty="0">
                <a:latin typeface="Arial" panose="020B0604020202020204" pitchFamily="34" charset="0"/>
                <a:cs typeface="Arial" panose="020B0604020202020204" pitchFamily="34" charset="0"/>
              </a:rPr>
              <a:t>Bienvenidos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295" y="-8013"/>
            <a:ext cx="5491705" cy="3869367"/>
          </a:xfrm>
          <a:prstGeom prst="rect">
            <a:avLst/>
          </a:prstGeom>
        </p:spPr>
      </p:pic>
      <p:sp>
        <p:nvSpPr>
          <p:cNvPr id="5" name="Subtítulo 2"/>
          <p:cNvSpPr txBox="1">
            <a:spLocks/>
          </p:cNvSpPr>
          <p:nvPr/>
        </p:nvSpPr>
        <p:spPr>
          <a:xfrm>
            <a:off x="329301" y="1486033"/>
            <a:ext cx="6502923" cy="2050140"/>
          </a:xfrm>
          <a:prstGeom prst="rect">
            <a:avLst/>
          </a:prstGeom>
          <a:noFill/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i="0" kern="1200">
                <a:solidFill>
                  <a:schemeClr val="tx1"/>
                </a:solidFill>
                <a:latin typeface="Sharp Grotesk SemiBold 15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800" b="0" dirty="0">
                <a:solidFill>
                  <a:schemeClr val="bg1"/>
                </a:solidFill>
                <a:latin typeface="Telegraf" panose="00000500000000000000"/>
              </a:rPr>
              <a:t>Por favor, tener en cuenta lo siguiente para construir juntos una súper experiencia de aprendizaje.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PE" sz="1800" b="0" dirty="0">
                <a:solidFill>
                  <a:schemeClr val="bg1"/>
                </a:solidFill>
                <a:latin typeface="Telegraf" panose="00000500000000000000"/>
              </a:rPr>
              <a:t>Al ingresar, nos saludamos en el chat.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PE" sz="1800" b="0" dirty="0">
                <a:solidFill>
                  <a:schemeClr val="bg1"/>
                </a:solidFill>
                <a:latin typeface="Telegraf" panose="00000500000000000000"/>
              </a:rPr>
              <a:t>Participa siguiendo las indicaciones del docente.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PE" sz="1800" b="0" dirty="0">
                <a:solidFill>
                  <a:schemeClr val="bg1"/>
                </a:solidFill>
                <a:latin typeface="Telegraf" panose="00000500000000000000"/>
              </a:rPr>
              <a:t>Al finalizar, tendremos espacio para preguntas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50505" y="4478602"/>
            <a:ext cx="10440922" cy="1655762"/>
          </a:xfrm>
        </p:spPr>
        <p:txBody>
          <a:bodyPr/>
          <a:lstStyle/>
          <a:p>
            <a:r>
              <a:rPr lang="es-MX" sz="4000" dirty="0"/>
              <a:t>“La Felicidad es interior, no exterior; por lo tanto, no depende de lo que tenemos, sino de lo que somos”. </a:t>
            </a:r>
          </a:p>
          <a:p>
            <a:pPr algn="r"/>
            <a:r>
              <a:rPr lang="es-PE" sz="4000" dirty="0"/>
              <a:t>Pablo Neruda</a:t>
            </a:r>
          </a:p>
          <a:p>
            <a:r>
              <a:rPr lang="es-P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512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7F4493E-A3E8-F745-8DE9-E5DEE8818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sz="4000" dirty="0">
                <a:latin typeface="Arial" panose="020B0604020202020204" pitchFamily="34" charset="0"/>
                <a:cs typeface="Arial" panose="020B0604020202020204" pitchFamily="34" charset="0"/>
              </a:rPr>
              <a:t>Estructura de la sesión</a:t>
            </a:r>
          </a:p>
        </p:txBody>
      </p:sp>
      <p:sp>
        <p:nvSpPr>
          <p:cNvPr id="5" name="5 Marcador de texto"/>
          <p:cNvSpPr txBox="1">
            <a:spLocks/>
          </p:cNvSpPr>
          <p:nvPr/>
        </p:nvSpPr>
        <p:spPr>
          <a:xfrm>
            <a:off x="534898" y="1651794"/>
            <a:ext cx="7396800" cy="53340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4" y="3169035"/>
            <a:ext cx="7472515" cy="66746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Desarrollo: 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cs typeface="Arial" panose="020B0604020202020204" pitchFamily="34" charset="0"/>
              </a:rPr>
              <a:t>Revisión, aplicación práctica, evaluación</a:t>
            </a: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4" y="2316304"/>
            <a:ext cx="6025852" cy="7649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PE" sz="1495" b="1" dirty="0">
                <a:latin typeface="Arial" panose="020B0604020202020204" pitchFamily="34" charset="0"/>
                <a:cs typeface="Arial" panose="020B0604020202020204" pitchFamily="34" charset="0"/>
              </a:rPr>
              <a:t>Introducción: </a:t>
            </a:r>
          </a:p>
          <a:p>
            <a:pPr>
              <a:defRPr/>
            </a:pPr>
            <a:r>
              <a:rPr lang="es-PE" sz="1495" dirty="0">
                <a:latin typeface="Arial" panose="020B0604020202020204" pitchFamily="34" charset="0"/>
                <a:cs typeface="Arial" panose="020B0604020202020204" pitchFamily="34" charset="0"/>
              </a:rPr>
              <a:t>Logro de la sesión y verificación de aprendizaje autónomo  </a:t>
            </a:r>
            <a:endParaRPr lang="en-US" sz="1495" dirty="0">
              <a:latin typeface="Arial" panose="020B0604020202020204" pitchFamily="34" charset="0"/>
              <a:ea typeface="Roboto" pitchFamily="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3" y="3916416"/>
            <a:ext cx="6143852" cy="57131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Cierre: 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cs typeface="Arial" panose="020B0604020202020204" pitchFamily="34" charset="0"/>
              </a:rPr>
              <a:t>Retroalimentación y conclusiones,  </a:t>
            </a: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4" y="4772793"/>
            <a:ext cx="4685817" cy="89960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Información Complementaria: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cs typeface="Arial" panose="020B0604020202020204" pitchFamily="34" charset="0"/>
              </a:rPr>
              <a:t>Información adicional sobre el tema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cs typeface="Arial" panose="020B0604020202020204" pitchFamily="34" charset="0"/>
              </a:rPr>
              <a:t>Alcances sobre próximo módulo</a:t>
            </a:r>
          </a:p>
          <a:p>
            <a:pPr>
              <a:defRPr/>
            </a:pPr>
            <a:endParaRPr lang="en-US" sz="149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495" dirty="0">
              <a:latin typeface="Arial" panose="020B0604020202020204" pitchFamily="34" charset="0"/>
              <a:ea typeface="Roboto" pitchFamily="2" charset="0"/>
              <a:cs typeface="Arial" panose="020B0604020202020204" pitchFamily="34" charset="0"/>
            </a:endParaRPr>
          </a:p>
          <a:p>
            <a:pPr>
              <a:defRPr/>
            </a:pP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5 Rectángulo"/>
          <p:cNvSpPr/>
          <p:nvPr/>
        </p:nvSpPr>
        <p:spPr>
          <a:xfrm>
            <a:off x="537424" y="2289884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2" name="16 Rectángulo"/>
          <p:cNvSpPr/>
          <p:nvPr/>
        </p:nvSpPr>
        <p:spPr>
          <a:xfrm>
            <a:off x="537424" y="3169035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3" name="16 Rectángulo"/>
          <p:cNvSpPr/>
          <p:nvPr/>
        </p:nvSpPr>
        <p:spPr>
          <a:xfrm>
            <a:off x="537424" y="4037416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4" name="16 Rectángulo"/>
          <p:cNvSpPr/>
          <p:nvPr/>
        </p:nvSpPr>
        <p:spPr>
          <a:xfrm>
            <a:off x="537424" y="4835198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5" name="16 Rectángulo"/>
          <p:cNvSpPr/>
          <p:nvPr/>
        </p:nvSpPr>
        <p:spPr>
          <a:xfrm>
            <a:off x="537424" y="5716870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6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3" y="5728652"/>
            <a:ext cx="4685817" cy="57131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Consultas: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  <a:t>Dudas e inquietudes</a:t>
            </a:r>
          </a:p>
          <a:p>
            <a:pPr>
              <a:defRPr/>
            </a:pP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503470" y="5957000"/>
            <a:ext cx="1589235" cy="33789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PE" sz="1495" b="1" dirty="0">
                <a:latin typeface="Arial" panose="020B0604020202020204" pitchFamily="34" charset="0"/>
                <a:cs typeface="Arial" panose="020B0604020202020204" pitchFamily="34" charset="0"/>
              </a:rPr>
              <a:t>Tiempo</a:t>
            </a: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: 50’</a:t>
            </a: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C980272-1FEC-411F-AEE3-D47DED2DD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780" y="3547122"/>
            <a:ext cx="20669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0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913092-809C-EA42-8BA9-4BD6D7AB4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APRENDIZAJE ESPERADO  Y CONTENIDO DEL MÓDULO </a:t>
            </a:r>
          </a:p>
        </p:txBody>
      </p:sp>
      <p:sp>
        <p:nvSpPr>
          <p:cNvPr id="4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77014" y="1987297"/>
            <a:ext cx="8219995" cy="5261756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es-E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término del módulo, el estudiante </a:t>
            </a: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reconoce y valora los efectos de la relación óptima entre la felicidad, las emociones y el funcionamiento del cerebro para desarrollar hábitos saludables en diferentes ámbitos de su vida.</a:t>
            </a:r>
          </a:p>
          <a:p>
            <a:pPr algn="just">
              <a:defRPr/>
            </a:pPr>
            <a:r>
              <a:rPr lang="es-MX" sz="2800" dirty="0">
                <a:solidFill>
                  <a:schemeClr val="bg1"/>
                </a:solidFill>
                <a:latin typeface="Telegraf" panose="00000500000000000000"/>
                <a:cs typeface="Arial" panose="020B0604020202020204" pitchFamily="34" charset="0"/>
              </a:rPr>
              <a:t>CONTENIDO</a:t>
            </a:r>
            <a:endParaRPr lang="es-AR" sz="28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977014" y="1518050"/>
            <a:ext cx="5553095" cy="619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APRENDIZAJE ESPERADO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691590-15E8-4D4B-8691-D5E8EB7AC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589" y="3643693"/>
            <a:ext cx="8044625" cy="294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76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913092-809C-EA42-8BA9-4BD6D7AB4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VERIFICACIÓN DE APRENDIZAJE AUTÓNOMO </a:t>
            </a:r>
          </a:p>
        </p:txBody>
      </p:sp>
      <p:sp>
        <p:nvSpPr>
          <p:cNvPr id="7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328098" y="2084294"/>
            <a:ext cx="6677820" cy="385481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PE" sz="2800" b="1" dirty="0">
                <a:solidFill>
                  <a:schemeClr val="bg1"/>
                </a:solidFill>
                <a:latin typeface="Telegraf" panose="00000500000000000000"/>
                <a:cs typeface="Arial" panose="020B0604020202020204" pitchFamily="34" charset="0"/>
              </a:rPr>
              <a:t>Responde las preguntas, siguiendo las indicaciones de tu docente:</a:t>
            </a:r>
            <a:endParaRPr lang="es-PE" sz="1495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</p:txBody>
      </p:sp>
      <p:pic>
        <p:nvPicPr>
          <p:cNvPr id="1026" name="Picture 2" descr="Signo de interrogacion, competencia, diverso, texto, otros png | PNGWing">
            <a:extLst>
              <a:ext uri="{FF2B5EF4-FFF2-40B4-BE49-F238E27FC236}">
                <a16:creationId xmlns:a16="http://schemas.microsoft.com/office/drawing/2014/main" id="{4652814F-0CB0-4FB0-B4C0-07F1975C7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94" b="96740" l="10000" r="90000">
                        <a14:backgroundMark x1="39022" y1="91198" x2="39022" y2="91198"/>
                        <a14:backgroundMark x1="43043" y1="86471" x2="43043" y2="86471"/>
                        <a14:backgroundMark x1="38478" y1="86227" x2="38478" y2="862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083" y="1093701"/>
            <a:ext cx="4671917" cy="623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60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913092-809C-EA42-8BA9-4BD6D7AB4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OBJETIVOS DE LA SESIÓN </a:t>
            </a: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524301" y="1238772"/>
            <a:ext cx="10515600" cy="5619228"/>
          </a:xfrm>
        </p:spPr>
        <p:txBody>
          <a:bodyPr>
            <a:normAutofit/>
          </a:bodyPr>
          <a:lstStyle/>
          <a:p>
            <a:endParaRPr lang="es-PE" dirty="0">
              <a:latin typeface="Telegraf" panose="00000500000000000000"/>
            </a:endParaRPr>
          </a:p>
          <a:p>
            <a:pPr marL="0" indent="0">
              <a:buNone/>
            </a:pPr>
            <a:r>
              <a:rPr lang="es-PE" sz="2400" dirty="0">
                <a:latin typeface="Telegraf" panose="00000500000000000000"/>
                <a:cs typeface="Arial" panose="020B0604020202020204" pitchFamily="34" charset="0"/>
              </a:rPr>
              <a:t>Al término de la sesión, estarás en  condiciones de:</a:t>
            </a:r>
          </a:p>
          <a:p>
            <a:pPr marL="0" indent="0">
              <a:buNone/>
            </a:pPr>
            <a:endParaRPr lang="es-PE" dirty="0">
              <a:latin typeface="Telegraf" panose="0000050000000000000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PE" dirty="0">
              <a:latin typeface="Telegraf" panose="00000500000000000000"/>
              <a:cs typeface="Arial" panose="020B0604020202020204" pitchFamily="34" charset="0"/>
            </a:endParaRPr>
          </a:p>
          <a:p>
            <a:r>
              <a:rPr lang="es-ES" sz="2400" dirty="0">
                <a:latin typeface="Telegraf" panose="00000500000000000000"/>
                <a:cs typeface="Arial" panose="020B0604020202020204" pitchFamily="34" charset="0"/>
              </a:rPr>
              <a:t>Identificar  la definición de felicidad y la teoría del bienestar de Seligman.</a:t>
            </a:r>
          </a:p>
          <a:p>
            <a:endParaRPr lang="es-PE" sz="2400" dirty="0">
              <a:latin typeface="Telegraf" panose="00000500000000000000"/>
              <a:cs typeface="Arial" panose="020B0604020202020204" pitchFamily="34" charset="0"/>
            </a:endParaRPr>
          </a:p>
          <a:p>
            <a:r>
              <a:rPr lang="es-ES" sz="2400" dirty="0">
                <a:latin typeface="Telegraf" panose="00000500000000000000"/>
                <a:cs typeface="Arial" panose="020B0604020202020204" pitchFamily="34" charset="0"/>
              </a:rPr>
              <a:t>Relacionar la importancia de las emociones y el funcionamiento cerebral en el desarrollo de la felicidad sostenible .</a:t>
            </a:r>
          </a:p>
          <a:p>
            <a:pPr marL="0" indent="0">
              <a:buNone/>
            </a:pPr>
            <a:endParaRPr lang="es-PE" sz="2400" dirty="0">
              <a:latin typeface="Telegraf" panose="0000050000000000000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PE" sz="2400" dirty="0">
              <a:latin typeface="Telegraf" panose="00000500000000000000"/>
            </a:endParaRPr>
          </a:p>
          <a:p>
            <a:endParaRPr lang="es-PE" dirty="0">
              <a:latin typeface="Telegraf" panose="00000500000000000000"/>
            </a:endParaRPr>
          </a:p>
          <a:p>
            <a:endParaRPr lang="es-PE" dirty="0">
              <a:latin typeface="Telegraf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48402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texto">
            <a:extLst>
              <a:ext uri="{FF2B5EF4-FFF2-40B4-BE49-F238E27FC236}">
                <a16:creationId xmlns:a16="http://schemas.microsoft.com/office/drawing/2014/main" id="{53F9A83F-C9AB-453B-8D06-7284F6FE40DF}"/>
              </a:ext>
            </a:extLst>
          </p:cNvPr>
          <p:cNvSpPr txBox="1">
            <a:spLocks/>
          </p:cNvSpPr>
          <p:nvPr/>
        </p:nvSpPr>
        <p:spPr>
          <a:xfrm>
            <a:off x="317715" y="750190"/>
            <a:ext cx="5485714" cy="379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993">
                <a:latin typeface="Arial" panose="020B0604020202020204" pitchFamily="34" charset="0"/>
              </a:rPr>
              <a:t>Temario</a:t>
            </a:r>
            <a:endParaRPr lang="en-US" sz="1993" dirty="0">
              <a:latin typeface="Arial" panose="020B0604020202020204" pitchFamily="34" charset="0"/>
            </a:endParaRP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83836C1-1AC2-41EA-A29E-E1C1496D878B}"/>
              </a:ext>
            </a:extLst>
          </p:cNvPr>
          <p:cNvSpPr txBox="1">
            <a:spLocks/>
          </p:cNvSpPr>
          <p:nvPr/>
        </p:nvSpPr>
        <p:spPr>
          <a:xfrm>
            <a:off x="556425" y="389079"/>
            <a:ext cx="10243868" cy="87904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FFC000"/>
                </a:solidFill>
                <a:latin typeface="Sharp Grotesk SemiBold 15" pitchFamily="2" charset="77"/>
                <a:ea typeface="+mj-ea"/>
                <a:cs typeface="+mj-cs"/>
              </a:defRPr>
            </a:lvl1pPr>
          </a:lstStyle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2. Ideas clave del Módulo 4: La Felicidad: Las emociones y el cerebro humano </a:t>
            </a:r>
          </a:p>
          <a:p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Marcador de texto">
            <a:extLst>
              <a:ext uri="{FF2B5EF4-FFF2-40B4-BE49-F238E27FC236}">
                <a16:creationId xmlns:a16="http://schemas.microsoft.com/office/drawing/2014/main" id="{63FCD595-0EE9-4B13-8B5C-367C694B801E}"/>
              </a:ext>
            </a:extLst>
          </p:cNvPr>
          <p:cNvSpPr txBox="1">
            <a:spLocks/>
          </p:cNvSpPr>
          <p:nvPr/>
        </p:nvSpPr>
        <p:spPr>
          <a:xfrm>
            <a:off x="556425" y="1411150"/>
            <a:ext cx="7297616" cy="53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Teoría inicial de Martín Seligman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br>
              <a:rPr lang="es-ES" dirty="0"/>
            </a:br>
            <a:endParaRPr lang="es-MX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70A50CC-4A42-42EC-91ED-EA34536A7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72" y="1944550"/>
            <a:ext cx="5320028" cy="439132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AB0AFE6-D3A4-4777-A689-9728E836F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986" y="1944550"/>
            <a:ext cx="4474852" cy="136342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0B9092-EA0F-4559-B3C7-95D82BA6F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343" y="3585883"/>
            <a:ext cx="2664183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60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texto">
            <a:extLst>
              <a:ext uri="{FF2B5EF4-FFF2-40B4-BE49-F238E27FC236}">
                <a16:creationId xmlns:a16="http://schemas.microsoft.com/office/drawing/2014/main" id="{53F9A83F-C9AB-453B-8D06-7284F6FE40DF}"/>
              </a:ext>
            </a:extLst>
          </p:cNvPr>
          <p:cNvSpPr txBox="1">
            <a:spLocks/>
          </p:cNvSpPr>
          <p:nvPr/>
        </p:nvSpPr>
        <p:spPr>
          <a:xfrm>
            <a:off x="317715" y="750190"/>
            <a:ext cx="5485714" cy="379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993">
                <a:latin typeface="Arial" panose="020B0604020202020204" pitchFamily="34" charset="0"/>
              </a:rPr>
              <a:t>Temario</a:t>
            </a:r>
            <a:endParaRPr lang="en-US" sz="1993" dirty="0">
              <a:latin typeface="Arial" panose="020B0604020202020204" pitchFamily="34" charset="0"/>
            </a:endParaRP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83836C1-1AC2-41EA-A29E-E1C1496D878B}"/>
              </a:ext>
            </a:extLst>
          </p:cNvPr>
          <p:cNvSpPr txBox="1">
            <a:spLocks/>
          </p:cNvSpPr>
          <p:nvPr/>
        </p:nvSpPr>
        <p:spPr>
          <a:xfrm>
            <a:off x="556425" y="349500"/>
            <a:ext cx="10243868" cy="87904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FFC000"/>
                </a:solidFill>
                <a:latin typeface="Sharp Grotesk SemiBold 15" pitchFamily="2" charset="77"/>
                <a:ea typeface="+mj-ea"/>
                <a:cs typeface="+mj-cs"/>
              </a:defRPr>
            </a:lvl1pPr>
          </a:lstStyle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2. Ideas clave del Módulo 04: La Felicidad: Las emociones y el cerebro humano </a:t>
            </a:r>
          </a:p>
          <a:p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3CA33F-CD3F-43C9-8527-F64242B26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25" y="1735365"/>
            <a:ext cx="4566300" cy="53649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3D8DC87-362E-4817-AA43-F3C8B6B21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904" y="2188264"/>
            <a:ext cx="5535748" cy="466973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B7DA32E-6547-4B21-A5A7-2DE8574F4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54" y="2509289"/>
            <a:ext cx="4181241" cy="121011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4EFF263-572E-4FE7-835E-5051494A5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97" y="4523132"/>
            <a:ext cx="1458270" cy="75594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5A07C09-50F4-41B8-8D64-5C8487E40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925" y="4535396"/>
            <a:ext cx="1458270" cy="729597"/>
          </a:xfrm>
          <a:prstGeom prst="rect">
            <a:avLst/>
          </a:prstGeom>
        </p:spPr>
      </p:pic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1F26E8BC-EBD6-46F0-A90A-02164C703DDC}"/>
              </a:ext>
            </a:extLst>
          </p:cNvPr>
          <p:cNvCxnSpPr>
            <a:cxnSpLocks/>
          </p:cNvCxnSpPr>
          <p:nvPr/>
        </p:nvCxnSpPr>
        <p:spPr>
          <a:xfrm>
            <a:off x="2225693" y="4882265"/>
            <a:ext cx="1225963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BB72746-1C1F-4221-8EE4-8F72F638E6DB}"/>
              </a:ext>
            </a:extLst>
          </p:cNvPr>
          <p:cNvSpPr/>
          <p:nvPr/>
        </p:nvSpPr>
        <p:spPr>
          <a:xfrm>
            <a:off x="2057483" y="4355516"/>
            <a:ext cx="1394173" cy="46465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13166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transición</a:t>
            </a:r>
            <a:endParaRPr kumimoji="0" lang="es-PE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26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texto">
            <a:extLst>
              <a:ext uri="{FF2B5EF4-FFF2-40B4-BE49-F238E27FC236}">
                <a16:creationId xmlns:a16="http://schemas.microsoft.com/office/drawing/2014/main" id="{53F9A83F-C9AB-453B-8D06-7284F6FE40DF}"/>
              </a:ext>
            </a:extLst>
          </p:cNvPr>
          <p:cNvSpPr txBox="1">
            <a:spLocks/>
          </p:cNvSpPr>
          <p:nvPr/>
        </p:nvSpPr>
        <p:spPr>
          <a:xfrm>
            <a:off x="317715" y="750190"/>
            <a:ext cx="5485714" cy="379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993" dirty="0">
                <a:latin typeface="Arial" panose="020B0604020202020204" pitchFamily="34" charset="0"/>
              </a:rPr>
              <a:t>Temario</a:t>
            </a:r>
            <a:endParaRPr lang="en-US" sz="1993" dirty="0">
              <a:latin typeface="Arial" panose="020B0604020202020204" pitchFamily="34" charset="0"/>
            </a:endParaRP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83836C1-1AC2-41EA-A29E-E1C1496D878B}"/>
              </a:ext>
            </a:extLst>
          </p:cNvPr>
          <p:cNvSpPr txBox="1">
            <a:spLocks/>
          </p:cNvSpPr>
          <p:nvPr/>
        </p:nvSpPr>
        <p:spPr>
          <a:xfrm>
            <a:off x="556425" y="432649"/>
            <a:ext cx="10243868" cy="87904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FFC000"/>
                </a:solidFill>
                <a:latin typeface="Sharp Grotesk SemiBold 15" pitchFamily="2" charset="77"/>
                <a:ea typeface="+mj-ea"/>
                <a:cs typeface="+mj-cs"/>
              </a:defRPr>
            </a:lvl1pPr>
          </a:lstStyle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2. Ideas clave del Módulo 04: La Felicidad: Las emociones y el cerebro humano </a:t>
            </a:r>
          </a:p>
          <a:p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Marcador de texto">
            <a:extLst>
              <a:ext uri="{FF2B5EF4-FFF2-40B4-BE49-F238E27FC236}">
                <a16:creationId xmlns:a16="http://schemas.microsoft.com/office/drawing/2014/main" id="{63FCD595-0EE9-4B13-8B5C-367C694B801E}"/>
              </a:ext>
            </a:extLst>
          </p:cNvPr>
          <p:cNvSpPr txBox="1">
            <a:spLocks/>
          </p:cNvSpPr>
          <p:nvPr/>
        </p:nvSpPr>
        <p:spPr>
          <a:xfrm>
            <a:off x="1484078" y="1331609"/>
            <a:ext cx="7297616" cy="53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330AE3B-75B0-4C5F-8C1E-25A1CC382F57}"/>
              </a:ext>
            </a:extLst>
          </p:cNvPr>
          <p:cNvSpPr/>
          <p:nvPr/>
        </p:nvSpPr>
        <p:spPr>
          <a:xfrm>
            <a:off x="5257487" y="1299366"/>
            <a:ext cx="5115339" cy="463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C350F51-DA09-40AF-9AC4-58DA8DF69A2E}"/>
              </a:ext>
            </a:extLst>
          </p:cNvPr>
          <p:cNvSpPr/>
          <p:nvPr/>
        </p:nvSpPr>
        <p:spPr>
          <a:xfrm>
            <a:off x="5393635" y="4486394"/>
            <a:ext cx="4979191" cy="624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83483CD-A473-4A49-8C71-25284DC206B5}"/>
              </a:ext>
            </a:extLst>
          </p:cNvPr>
          <p:cNvSpPr/>
          <p:nvPr/>
        </p:nvSpPr>
        <p:spPr>
          <a:xfrm>
            <a:off x="4890051" y="5153016"/>
            <a:ext cx="6342797" cy="770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18" name="Marcador de texto 3">
            <a:extLst>
              <a:ext uri="{FF2B5EF4-FFF2-40B4-BE49-F238E27FC236}">
                <a16:creationId xmlns:a16="http://schemas.microsoft.com/office/drawing/2014/main" id="{4A9B6552-B537-4A84-B703-8E2F69A45402}"/>
              </a:ext>
            </a:extLst>
          </p:cNvPr>
          <p:cNvSpPr txBox="1">
            <a:spLocks/>
          </p:cNvSpPr>
          <p:nvPr/>
        </p:nvSpPr>
        <p:spPr>
          <a:xfrm>
            <a:off x="317715" y="1517701"/>
            <a:ext cx="6400800" cy="533400"/>
          </a:xfrm>
          <a:prstGeom prst="rect">
            <a:avLst/>
          </a:prstGeom>
        </p:spPr>
        <p:txBody>
          <a:bodyPr/>
          <a:lstStyle>
            <a:lvl1pPr marL="0" indent="0" algn="l" defTabSz="1197590" rtl="0" eaLnBrk="1" latinLnBrk="0" hangingPunct="1">
              <a:spcBef>
                <a:spcPts val="0"/>
              </a:spcBef>
              <a:buFont typeface="Arial" pitchFamily="34" charset="0"/>
              <a:buNone/>
              <a:defRPr lang="es-ES" sz="2000" b="0" kern="1200" baseline="0" dirty="0" smtClean="0">
                <a:solidFill>
                  <a:srgbClr val="FDBB30"/>
                </a:solidFill>
                <a:latin typeface="+mj-lt"/>
                <a:ea typeface="Roboto Medium" pitchFamily="2" charset="0"/>
                <a:cs typeface="Arial" pitchFamily="34" charset="0"/>
              </a:defRPr>
            </a:lvl1pPr>
            <a:lvl2pPr marL="598795" indent="0" algn="l" defTabSz="1131661" rtl="0" eaLnBrk="1" latinLnBrk="0" hangingPunct="1">
              <a:spcBef>
                <a:spcPct val="20000"/>
              </a:spcBef>
              <a:buFont typeface="Arial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577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40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23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2069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90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73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561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1975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srgbClr val="FDBB30"/>
                </a:solidFill>
                <a:effectLst/>
                <a:uLnTx/>
                <a:uFillTx/>
                <a:latin typeface="Roboto Medium"/>
                <a:ea typeface="Roboto Medium" pitchFamily="2" charset="0"/>
                <a:cs typeface="Arial" pitchFamily="34" charset="0"/>
              </a:rPr>
              <a:t>El funcionamiento cerebral y el bienestar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B2BF15B-2137-41F7-91A8-E49EAC206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12" y="3429000"/>
            <a:ext cx="9925033" cy="301853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EE5F463-6D5C-4619-A5A2-CE47139CD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85" y="2200697"/>
            <a:ext cx="10017008" cy="104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70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D8372A4-3271-40B5-AB77-28F50A91539E}"/>
              </a:ext>
            </a:extLst>
          </p:cNvPr>
          <p:cNvSpPr txBox="1"/>
          <p:nvPr/>
        </p:nvSpPr>
        <p:spPr>
          <a:xfrm>
            <a:off x="3345236" y="2105560"/>
            <a:ext cx="4083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>
                <a:latin typeface="Forte" panose="03060902040502070203" pitchFamily="66" charset="0"/>
              </a:rPr>
              <a:t>Soy feliz cuando…</a:t>
            </a:r>
            <a:endParaRPr lang="es-PE" sz="4000" dirty="0">
              <a:latin typeface="Forte" panose="03060902040502070203" pitchFamily="66" charset="0"/>
            </a:endParaRPr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1725B58C-C291-4D47-A6E7-84328F299233}"/>
              </a:ext>
            </a:extLst>
          </p:cNvPr>
          <p:cNvSpPr txBox="1">
            <a:spLocks/>
          </p:cNvSpPr>
          <p:nvPr/>
        </p:nvSpPr>
        <p:spPr>
          <a:xfrm>
            <a:off x="927889" y="659760"/>
            <a:ext cx="10336222" cy="4512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000" b="1" i="0" kern="1200">
                <a:solidFill>
                  <a:schemeClr val="bg1"/>
                </a:solidFill>
                <a:latin typeface="Sharp Grotesk Bold 15" pitchFamily="2" charset="77"/>
                <a:ea typeface="+mj-ea"/>
                <a:cs typeface="+mj-cs"/>
              </a:defRPr>
            </a:lvl1pPr>
          </a:lstStyle>
          <a:p>
            <a:r>
              <a:rPr lang="es-PE" sz="32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PRÁCTICO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887F497-1B02-4A65-A941-07981FFE028C}"/>
              </a:ext>
            </a:extLst>
          </p:cNvPr>
          <p:cNvSpPr/>
          <p:nvPr/>
        </p:nvSpPr>
        <p:spPr>
          <a:xfrm>
            <a:off x="3345236" y="2551749"/>
            <a:ext cx="8772939" cy="19574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solidFill>
                  <a:srgbClr val="333333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Luis había ingresado a la universidad, sentía gran satisfacción y orgullo, ya que alcanzaba una meta que pocos logran. La etapa de adaptación venía llena de retos en diversos marcos socioeconómicos y culturales.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solidFill>
                  <a:srgbClr val="333333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patrones de vida habían cambiado para él debido a las cargas de tareas y evaluaciones. Además, tenía un empleo de medio tiempo, después de un año se sentía agobiado y aburrido de la vida que llevaba.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36ACC5-FF33-40AE-810C-E9D0C8432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41" y="1870901"/>
            <a:ext cx="3059519" cy="357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84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418214" y="403086"/>
            <a:ext cx="10336222" cy="451256"/>
          </a:xfrm>
        </p:spPr>
        <p:txBody>
          <a:bodyPr/>
          <a:lstStyle/>
          <a:p>
            <a:r>
              <a:rPr lang="es-PE" dirty="0"/>
              <a:t>CASO PRÁCTICO:  Analicemos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0C7B275C-6F7F-40DA-8B46-A3846858D9B0}"/>
              </a:ext>
            </a:extLst>
          </p:cNvPr>
          <p:cNvSpPr txBox="1">
            <a:spLocks/>
          </p:cNvSpPr>
          <p:nvPr/>
        </p:nvSpPr>
        <p:spPr>
          <a:xfrm>
            <a:off x="418214" y="2520514"/>
            <a:ext cx="10336222" cy="2964826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elegraf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es-PE" sz="3800" dirty="0">
                <a:latin typeface="Arial" panose="020B0604020202020204" pitchFamily="34" charset="0"/>
                <a:cs typeface="Arial" panose="020B0604020202020204" pitchFamily="34" charset="0"/>
              </a:rPr>
              <a:t>Considerando el modelo PERMA que propone Seligman ¿Qué debería hacer Luis?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es-PE" sz="3800" dirty="0">
                <a:latin typeface="Arial" panose="020B0604020202020204" pitchFamily="34" charset="0"/>
                <a:cs typeface="Arial" panose="020B0604020202020204" pitchFamily="34" charset="0"/>
              </a:rPr>
              <a:t>Tomando en cuenta la teoría inicial de Seligman: ¿Qué tipo de vida debe poner en práctica?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es-PE" sz="3800" dirty="0">
                <a:latin typeface="Arial" panose="020B0604020202020204" pitchFamily="34" charset="0"/>
                <a:cs typeface="Arial" panose="020B0604020202020204" pitchFamily="34" charset="0"/>
              </a:rPr>
              <a:t>De acuerdo a los estudios sobre felicidad y el funcionamiento cerebral: ¿Qué neurotransmisor ayudaría que esté presente en Luis? ¿Por qué?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490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EB9A62A-6BDB-5346-90C7-926565C9FF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ESTRATEGIAS Y HERRAMIENTAS DE LA PSICOLOGÍA POSITIVA</a:t>
            </a:r>
            <a:endParaRPr lang="es-PE" dirty="0"/>
          </a:p>
        </p:txBody>
      </p:sp>
      <p:sp>
        <p:nvSpPr>
          <p:cNvPr id="10" name="Marcador de contenido 4">
            <a:extLst>
              <a:ext uri="{FF2B5EF4-FFF2-40B4-BE49-F238E27FC236}">
                <a16:creationId xmlns:a16="http://schemas.microsoft.com/office/drawing/2014/main" id="{BCF7F98C-7752-4250-A000-900DB715BBC2}"/>
              </a:ext>
            </a:extLst>
          </p:cNvPr>
          <p:cNvSpPr txBox="1">
            <a:spLocks/>
          </p:cNvSpPr>
          <p:nvPr/>
        </p:nvSpPr>
        <p:spPr>
          <a:xfrm>
            <a:off x="4990214" y="5989285"/>
            <a:ext cx="6159795" cy="2270181"/>
          </a:xfrm>
          <a:prstGeom prst="rect">
            <a:avLst/>
          </a:prstGeom>
        </p:spPr>
        <p:txBody>
          <a:bodyPr/>
          <a:lstStyle>
            <a:lvl1pPr marL="424373" indent="-424373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9475" indent="-353644" algn="l" defTabSz="113166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577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40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23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2069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90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73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561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b="1" dirty="0">
                <a:highlight>
                  <a:srgbClr val="99FFCC"/>
                </a:highlight>
                <a:latin typeface="Segoe Print" panose="02000600000000000000" pitchFamily="2" charset="0"/>
                <a:cs typeface="Arial" panose="020B0604020202020204" pitchFamily="34" charset="0"/>
              </a:rPr>
              <a:t>¡Toma decisiones que te ayuden a incrementar tu bienestar !  </a:t>
            </a:r>
            <a:endParaRPr lang="es-ES" sz="1800" b="1" dirty="0">
              <a:highlight>
                <a:srgbClr val="99FFCC"/>
              </a:highlight>
              <a:latin typeface="Segoe Print" panose="02000600000000000000" pitchFamily="2" charset="0"/>
              <a:cs typeface="Arial" panose="020B06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s-PE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3272648-AC5B-4AE2-81CB-5B2945821554}"/>
              </a:ext>
            </a:extLst>
          </p:cNvPr>
          <p:cNvSpPr txBox="1"/>
          <p:nvPr/>
        </p:nvSpPr>
        <p:spPr>
          <a:xfrm>
            <a:off x="8304593" y="4762455"/>
            <a:ext cx="26019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800" b="1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Herramienta</a:t>
            </a:r>
            <a:r>
              <a:rPr lang="es-PE" sz="28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endParaRPr lang="es-PE" sz="280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8D2E68E-8AE3-4979-B29C-98CB773E9EF6}"/>
              </a:ext>
            </a:extLst>
          </p:cNvPr>
          <p:cNvSpPr txBox="1"/>
          <p:nvPr/>
        </p:nvSpPr>
        <p:spPr>
          <a:xfrm>
            <a:off x="2126305" y="1907521"/>
            <a:ext cx="26019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800" b="1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Estrategia para la vida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A1F9BD5-DDCA-4AD0-AB53-C7EF281EA222}"/>
              </a:ext>
            </a:extLst>
          </p:cNvPr>
          <p:cNvSpPr txBox="1"/>
          <p:nvPr/>
        </p:nvSpPr>
        <p:spPr>
          <a:xfrm>
            <a:off x="291178" y="3900680"/>
            <a:ext cx="44370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400" b="1" dirty="0">
                <a:highlight>
                  <a:srgbClr val="99FFCC"/>
                </a:highlight>
                <a:latin typeface="Segoe Print" panose="02000600000000000000" pitchFamily="2" charset="0"/>
                <a:cs typeface="Arial" panose="020B0604020202020204" pitchFamily="34" charset="0"/>
              </a:rPr>
              <a:t>¡Apliquemos lo aprendido!</a:t>
            </a:r>
          </a:p>
          <a:p>
            <a:pPr marL="0" indent="0">
              <a:buNone/>
            </a:pPr>
            <a:r>
              <a:rPr lang="es-ES" sz="2000" b="1" dirty="0">
                <a:highlight>
                  <a:srgbClr val="99FFCC"/>
                </a:highlight>
                <a:latin typeface="Segoe Print" panose="02000600000000000000" pitchFamily="2" charset="0"/>
                <a:cs typeface="Arial" panose="020B0604020202020204" pitchFamily="34" charset="0"/>
              </a:rPr>
              <a:t>Busca aquellas actividades que te gusten y te permitan alcanzar el </a:t>
            </a:r>
            <a:r>
              <a:rPr lang="es-ES" sz="2000" b="1" dirty="0" err="1">
                <a:highlight>
                  <a:srgbClr val="99FFCC"/>
                </a:highlight>
                <a:latin typeface="Segoe Print" panose="02000600000000000000" pitchFamily="2" charset="0"/>
                <a:cs typeface="Arial" panose="020B0604020202020204" pitchFamily="34" charset="0"/>
              </a:rPr>
              <a:t>flow</a:t>
            </a:r>
            <a:r>
              <a:rPr lang="es-ES" sz="2000" b="1" dirty="0">
                <a:highlight>
                  <a:srgbClr val="99FFCC"/>
                </a:highlight>
                <a:latin typeface="Segoe Print" panose="02000600000000000000" pitchFamily="2" charset="0"/>
                <a:cs typeface="Arial" panose="020B0604020202020204" pitchFamily="34" charset="0"/>
              </a:rPr>
              <a:t> 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FF4802-C3A9-4261-A2C9-5463B91DE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6" y="1686823"/>
            <a:ext cx="2128599" cy="174217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46E6537-6F2A-4E56-8957-7597C0FB1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214" y="4519905"/>
            <a:ext cx="2521070" cy="14005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75BD1C4-016D-48AF-83ED-061408171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755842"/>
            <a:ext cx="2654808" cy="265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97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913092-809C-EA42-8BA9-4BD6D7AB4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EVALUACIÓN</a:t>
            </a:r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0231" y="3013969"/>
            <a:ext cx="4510055" cy="2303697"/>
          </a:xfrm>
          <a:prstGeom prst="rect">
            <a:avLst/>
          </a:prstGeom>
        </p:spPr>
      </p:pic>
      <p:sp>
        <p:nvSpPr>
          <p:cNvPr id="7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709684" y="1592961"/>
            <a:ext cx="8543498" cy="68238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2800" b="1" dirty="0">
                <a:solidFill>
                  <a:schemeClr val="bg1"/>
                </a:solidFill>
                <a:latin typeface="Telegraf" panose="00000500000000000000"/>
                <a:cs typeface="Arial" panose="020B0604020202020204" pitchFamily="34" charset="0"/>
              </a:rPr>
              <a:t>Usa tu dispositivo móvil</a:t>
            </a:r>
          </a:p>
          <a:p>
            <a:pPr>
              <a:defRPr/>
            </a:pPr>
            <a:r>
              <a:rPr lang="en-US" sz="2800" dirty="0">
                <a:solidFill>
                  <a:schemeClr val="bg1"/>
                </a:solidFill>
                <a:latin typeface="Telegraf" panose="00000500000000000000"/>
                <a:ea typeface="Roboto" pitchFamily="2" charset="0"/>
                <a:cs typeface="Arial" panose="020B0604020202020204" pitchFamily="34" charset="0"/>
              </a:rPr>
              <a:t>Ingresa el PIN, y regístrate con tu nombre</a:t>
            </a:r>
          </a:p>
          <a:p>
            <a:pPr>
              <a:defRPr/>
            </a:pPr>
            <a:endParaRPr lang="es-AR" sz="1495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27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EB9A62A-6BDB-5346-90C7-926565C9F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7904" y="403086"/>
            <a:ext cx="5389459" cy="451256"/>
          </a:xfrm>
        </p:spPr>
        <p:txBody>
          <a:bodyPr/>
          <a:lstStyle/>
          <a:p>
            <a:r>
              <a:rPr lang="es-MX" sz="3200" dirty="0"/>
              <a:t>CONCLUSIONES</a:t>
            </a:r>
            <a:endParaRPr lang="es-PE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3070CD1-D88F-4633-ADF5-F9B394D5418D}"/>
              </a:ext>
            </a:extLst>
          </p:cNvPr>
          <p:cNvSpPr txBox="1"/>
          <p:nvPr/>
        </p:nvSpPr>
        <p:spPr>
          <a:xfrm>
            <a:off x="141668" y="2872887"/>
            <a:ext cx="25825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4"/>
              </a:buClr>
              <a:buSzPct val="110000"/>
              <a:buFont typeface="Wingdings" panose="05000000000000000000" pitchFamily="2" charset="2"/>
              <a:buChar char="J"/>
            </a:pPr>
            <a:r>
              <a:rPr lang="es-ES" sz="1800" dirty="0">
                <a:latin typeface="Telegraf" panose="00000500000000000000"/>
                <a:cs typeface="Arial" panose="020B0604020202020204" pitchFamily="34" charset="0"/>
              </a:rPr>
              <a:t>Identificar  la definición de felicidad y la teoría del bienestar de Seligman.</a:t>
            </a:r>
          </a:p>
          <a:p>
            <a:pPr marL="285750" indent="-285750">
              <a:buClr>
                <a:schemeClr val="accent4"/>
              </a:buClr>
              <a:buSzPct val="110000"/>
              <a:buFont typeface="Wingdings" panose="05000000000000000000" pitchFamily="2" charset="2"/>
              <a:buChar char="J"/>
            </a:pPr>
            <a:endParaRPr lang="es-PE" sz="1800" dirty="0">
              <a:latin typeface="Telegraf" panose="00000500000000000000"/>
              <a:cs typeface="Arial" panose="020B0604020202020204" pitchFamily="34" charset="0"/>
            </a:endParaRPr>
          </a:p>
          <a:p>
            <a:pPr marL="285750" indent="-285750">
              <a:buClr>
                <a:schemeClr val="accent4"/>
              </a:buClr>
              <a:buSzPct val="110000"/>
              <a:buFont typeface="Wingdings" panose="05000000000000000000" pitchFamily="2" charset="2"/>
              <a:buChar char="J"/>
            </a:pPr>
            <a:r>
              <a:rPr lang="es-ES" sz="1800" dirty="0">
                <a:latin typeface="Telegraf" panose="00000500000000000000"/>
                <a:cs typeface="Arial" panose="020B0604020202020204" pitchFamily="34" charset="0"/>
              </a:rPr>
              <a:t>Relacionar la importancia de las emociones y el funcionamiento cerebral en el desarrollo de la felicidad sostenible .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938BECD-EEBF-42A2-8149-7CC1A791D3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892236"/>
              </p:ext>
            </p:extLst>
          </p:nvPr>
        </p:nvGraphicFramePr>
        <p:xfrm>
          <a:off x="2923504" y="1299215"/>
          <a:ext cx="838271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D3250BA9-F467-4D24-8FB5-233F31D0C1D6}"/>
              </a:ext>
            </a:extLst>
          </p:cNvPr>
          <p:cNvSpPr txBox="1"/>
          <p:nvPr/>
        </p:nvSpPr>
        <p:spPr>
          <a:xfrm>
            <a:off x="141668" y="2473726"/>
            <a:ext cx="2582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/>
              <a:t>OBJETIVOS DE LA SESIÓN </a:t>
            </a:r>
          </a:p>
        </p:txBody>
      </p:sp>
    </p:spTree>
    <p:extLst>
      <p:ext uri="{BB962C8B-B14F-4D97-AF65-F5344CB8AC3E}">
        <p14:creationId xmlns:p14="http://schemas.microsoft.com/office/powerpoint/2010/main" val="3418732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939709A-BD2C-45C2-AC9B-F16239198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12189">
            <a:off x="636758" y="5125352"/>
            <a:ext cx="2705100" cy="1975624"/>
          </a:xfrm>
          <a:prstGeom prst="rect">
            <a:avLst/>
          </a:prstGeom>
        </p:spPr>
      </p:pic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51791" y="1338470"/>
            <a:ext cx="11052313" cy="539363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b="1" dirty="0"/>
              <a:t>Para ampliar tus aprendizajes puedes revisar:</a:t>
            </a:r>
          </a:p>
          <a:p>
            <a:r>
              <a:rPr lang="es-MX" sz="2600" dirty="0"/>
              <a:t>Para ampliar tus aprendizajes puedes revisar:</a:t>
            </a:r>
          </a:p>
          <a:p>
            <a:endParaRPr lang="es-PE" sz="2400" dirty="0"/>
          </a:p>
          <a:p>
            <a:r>
              <a:rPr lang="es-PE" sz="24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https://upn.blackboard.com/ultra/courses/_1448048_1/outline/lti/launchFrame?toolHref=https:~2F~2Fupn.blackboard.com~2Fwebapps~2Fblackboard~2Fexecute~2Fblti~2FlaunchLink%3Fcourse_id%3D_1448048_1%26content_id%3D_21956827_1%26from_ultra%3Dtrue</a:t>
            </a:r>
            <a:r>
              <a:rPr lang="es-PE" sz="2400" dirty="0">
                <a:solidFill>
                  <a:srgbClr val="0070C0"/>
                </a:solidFill>
              </a:rPr>
              <a:t> </a:t>
            </a:r>
          </a:p>
          <a:p>
            <a:endParaRPr lang="es-P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2400" b="1" dirty="0"/>
              <a:t>Avances para la próxima semana</a:t>
            </a:r>
          </a:p>
          <a:p>
            <a:r>
              <a:rPr lang="es-PE" dirty="0"/>
              <a:t>Revisa el Módulo 5: </a:t>
            </a:r>
            <a:r>
              <a:rPr lang="es-PE" b="1" dirty="0"/>
              <a:t>Voluntad y carácter</a:t>
            </a:r>
          </a:p>
          <a:p>
            <a:r>
              <a:rPr lang="es-PE" dirty="0"/>
              <a:t>Video: </a:t>
            </a:r>
            <a:r>
              <a:rPr lang="es-PE" b="0" i="0" dirty="0">
                <a:solidFill>
                  <a:srgbClr val="FDBA30"/>
                </a:solidFill>
                <a:effectLst/>
                <a:latin typeface="Telegraf" panose="00000500000000000000"/>
                <a:hlinkClick r:id="rId4"/>
              </a:rPr>
              <a:t>https://www.youtube.com/watch?v=wTIqlZe-ets</a:t>
            </a:r>
            <a:r>
              <a:rPr lang="es-PE" b="0" i="0" dirty="0">
                <a:solidFill>
                  <a:srgbClr val="FDBA30"/>
                </a:solidFill>
                <a:effectLst/>
                <a:latin typeface="Telegraf" panose="00000500000000000000"/>
              </a:rPr>
              <a:t> </a:t>
            </a:r>
            <a:endParaRPr lang="en-US" b="1" dirty="0"/>
          </a:p>
          <a:p>
            <a:endParaRPr lang="es-PE" sz="2400" b="1" dirty="0"/>
          </a:p>
          <a:p>
            <a:endParaRPr lang="en-US" sz="2400" b="1" dirty="0"/>
          </a:p>
          <a:p>
            <a:r>
              <a:rPr lang="en-US" sz="2400" b="1" dirty="0"/>
              <a:t>                                               </a:t>
            </a:r>
            <a:r>
              <a:rPr lang="en-US" sz="2400" b="1" dirty="0" err="1"/>
              <a:t>Revisa</a:t>
            </a:r>
            <a:r>
              <a:rPr lang="en-US" sz="2400" b="1" dirty="0"/>
              <a:t> </a:t>
            </a:r>
            <a:r>
              <a:rPr lang="en-US" sz="2400" b="1" dirty="0" err="1"/>
              <a:t>los</a:t>
            </a:r>
            <a:r>
              <a:rPr lang="en-US" sz="2400" b="1" dirty="0"/>
              <a:t> </a:t>
            </a:r>
            <a:r>
              <a:rPr lang="en-US" sz="2400" b="1" dirty="0" err="1"/>
              <a:t>Anuncios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</a:t>
            </a:r>
            <a:r>
              <a:rPr lang="en-US" sz="2400" b="1" dirty="0" err="1"/>
              <a:t>el</a:t>
            </a:r>
            <a:r>
              <a:rPr lang="en-US" sz="2400" b="1" dirty="0"/>
              <a:t> aula virtual, a </a:t>
            </a:r>
            <a:r>
              <a:rPr lang="en-US" sz="2400" b="1" dirty="0" err="1"/>
              <a:t>partir</a:t>
            </a:r>
            <a:r>
              <a:rPr lang="en-US" sz="2400" b="1" dirty="0"/>
              <a:t> del </a:t>
            </a:r>
            <a:r>
              <a:rPr lang="en-US" sz="2400" b="1" dirty="0" err="1"/>
              <a:t>díaLunes</a:t>
            </a:r>
            <a:endParaRPr lang="es-PE" sz="2400" dirty="0"/>
          </a:p>
          <a:p>
            <a:endParaRPr lang="es-PE" sz="2200" dirty="0"/>
          </a:p>
        </p:txBody>
      </p:sp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AMPLIACIÓN DE APRENDIZAJES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048000" y="29673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1517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86BD81-B29C-4580-9314-D770727CF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14" y="1832038"/>
            <a:ext cx="10189274" cy="462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84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EB9A62A-6BDB-5346-90C7-926565C9FF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Avisos y preguntas frecuentes</a:t>
            </a:r>
            <a:endParaRPr lang="es-PE" dirty="0"/>
          </a:p>
        </p:txBody>
      </p:sp>
      <p:pic>
        <p:nvPicPr>
          <p:cNvPr id="4" name="Picture 4" descr="Resultado de imagen para icono de preguntas">
            <a:extLst>
              <a:ext uri="{FF2B5EF4-FFF2-40B4-BE49-F238E27FC236}">
                <a16:creationId xmlns:a16="http://schemas.microsoft.com/office/drawing/2014/main" id="{7DDAB82D-2CA3-49E6-9014-B60720F9C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5" y="2391591"/>
            <a:ext cx="3352800" cy="347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BA00A30-B0E3-437C-B763-6D3C1C3CC6E2}"/>
              </a:ext>
            </a:extLst>
          </p:cNvPr>
          <p:cNvSpPr txBox="1">
            <a:spLocks/>
          </p:cNvSpPr>
          <p:nvPr/>
        </p:nvSpPr>
        <p:spPr>
          <a:xfrm>
            <a:off x="4058152" y="2399906"/>
            <a:ext cx="6705599" cy="2590800"/>
          </a:xfrm>
          <a:prstGeom prst="rect">
            <a:avLst/>
          </a:prstGeom>
        </p:spPr>
        <p:txBody>
          <a:bodyPr/>
          <a:lstStyle>
            <a:lvl1pPr marL="424373" indent="-424373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9475" indent="-353644" algn="l" defTabSz="113166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577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40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23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2069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90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73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561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s-PE" altLang="es-PE" sz="3600" dirty="0"/>
              <a:t>Realiza tus consultas a través del chat, del formulario o solicita al docente activar el micrófono para participar.</a:t>
            </a:r>
          </a:p>
          <a:p>
            <a:pPr marL="0" indent="0" algn="ctr">
              <a:buFontTx/>
              <a:buNone/>
            </a:pPr>
            <a:endParaRPr lang="es-PE" altLang="es-PE" sz="3600" dirty="0"/>
          </a:p>
          <a:p>
            <a:pPr marL="0" indent="0" algn="ctr">
              <a:buFontTx/>
              <a:buNone/>
            </a:pPr>
            <a:r>
              <a:rPr lang="es-PE" altLang="es-PE" sz="2400" dirty="0">
                <a:solidFill>
                  <a:srgbClr val="FFC000"/>
                </a:solidFill>
              </a:rPr>
              <a:t>También podrás enviar sus consultas a través de la sección MENSAJES y te responderé en 24 horas.</a:t>
            </a:r>
          </a:p>
        </p:txBody>
      </p:sp>
    </p:spTree>
    <p:extLst>
      <p:ext uri="{BB962C8B-B14F-4D97-AF65-F5344CB8AC3E}">
        <p14:creationId xmlns:p14="http://schemas.microsoft.com/office/powerpoint/2010/main" val="42997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731E48F-77BB-4CB7-A9D1-A0C8E46943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5">
                    <a:lumMod val="75000"/>
                  </a:schemeClr>
                </a:solidFill>
              </a:rPr>
              <a:t>GENERANDO OXITOCINA…</a:t>
            </a:r>
            <a:endParaRPr lang="es-PE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AutoShape 2" descr="✓ Imagen de Mujer de mediana edad que lleva abrazo a uno mismo feliz y  positivo, sonriendo confiado Fotografía de Stock">
            <a:extLst>
              <a:ext uri="{FF2B5EF4-FFF2-40B4-BE49-F238E27FC236}">
                <a16:creationId xmlns:a16="http://schemas.microsoft.com/office/drawing/2014/main" id="{F49624A9-D454-409B-8448-AF3F669BC7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1028" name="Picture 4" descr="✓ Imagen de Mujer de mediana edad que lleva abrazo a uno mismo feliz y  positivo, sonriendo confiado Fotografía de Stock">
            <a:extLst>
              <a:ext uri="{FF2B5EF4-FFF2-40B4-BE49-F238E27FC236}">
                <a16:creationId xmlns:a16="http://schemas.microsoft.com/office/drawing/2014/main" id="{0D603C49-D14B-404C-9014-CEB093202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14" y="2100262"/>
            <a:ext cx="4998913" cy="332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otos de Abrazos a sí mismo de stock, Abrazos a sí mismo imágenes libres de  derechos | Depositphotos®">
            <a:extLst>
              <a:ext uri="{FF2B5EF4-FFF2-40B4-BE49-F238E27FC236}">
                <a16:creationId xmlns:a16="http://schemas.microsoft.com/office/drawing/2014/main" id="{A48DC9F8-E374-44D8-A800-45BD9FAF01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9"/>
          <a:stretch/>
        </p:blipFill>
        <p:spPr bwMode="auto">
          <a:xfrm>
            <a:off x="6006706" y="2100262"/>
            <a:ext cx="4960446" cy="332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430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369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</TotalTime>
  <Words>859</Words>
  <Application>Microsoft Office PowerPoint</Application>
  <PresentationFormat>Panorámica</PresentationFormat>
  <Paragraphs>107</Paragraphs>
  <Slides>21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5" baseType="lpstr">
      <vt:lpstr>Arial</vt:lpstr>
      <vt:lpstr>Calibri</vt:lpstr>
      <vt:lpstr>Comic Sans MS</vt:lpstr>
      <vt:lpstr>Forte</vt:lpstr>
      <vt:lpstr>Lato</vt:lpstr>
      <vt:lpstr>Roboto</vt:lpstr>
      <vt:lpstr>Roboto Medium</vt:lpstr>
      <vt:lpstr>Segoe Print</vt:lpstr>
      <vt:lpstr>Sharp Grotesk Bold 15</vt:lpstr>
      <vt:lpstr>Sharp Grotesk Book 20</vt:lpstr>
      <vt:lpstr>Sharp Grotesk SemiBold 15</vt:lpstr>
      <vt:lpstr>Telegraf</vt:lpstr>
      <vt:lpstr>Wingdings</vt:lpstr>
      <vt:lpstr>Tema de Office</vt:lpstr>
      <vt:lpstr>Presentación de PowerPoint</vt:lpstr>
      <vt:lpstr>Psicología de la Felicidad</vt:lpstr>
      <vt:lpstr>Módulo 04</vt:lpstr>
      <vt:lpstr>Bienvenidos</vt:lpstr>
      <vt:lpstr>Estructura de la sesión</vt:lpstr>
      <vt:lpstr>APRENDIZAJE ESPERADO  Y CONTENIDO DEL MÓDULO </vt:lpstr>
      <vt:lpstr>VERIFICACIÓN DE APRENDIZAJE AUTÓNOMO </vt:lpstr>
      <vt:lpstr>OBJETIVOS DE LA SESIÓN </vt:lpstr>
      <vt:lpstr>Presentación de PowerPoint</vt:lpstr>
      <vt:lpstr>Presentación de PowerPoint</vt:lpstr>
      <vt:lpstr>Presentación de PowerPoint</vt:lpstr>
      <vt:lpstr>Presentación de PowerPoint</vt:lpstr>
      <vt:lpstr>CASO PRÁCTICO:  Analicemos</vt:lpstr>
      <vt:lpstr>ESTRATEGIAS Y HERRAMIENTAS DE LA PSICOLOGÍA POSITIVA</vt:lpstr>
      <vt:lpstr>EVALUACIÓN</vt:lpstr>
      <vt:lpstr>CONCLUSIONES</vt:lpstr>
      <vt:lpstr>AMPLIACIÓN DE APRENDIZAJES</vt:lpstr>
      <vt:lpstr>BIBLIOGRAFÍA</vt:lpstr>
      <vt:lpstr>Avisos y preguntas frecuentes</vt:lpstr>
      <vt:lpstr>GENERANDO OXITOCINA…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aaron valero perez</dc:creator>
  <cp:lastModifiedBy>Ana Lázaro A.</cp:lastModifiedBy>
  <cp:revision>134</cp:revision>
  <dcterms:created xsi:type="dcterms:W3CDTF">2021-09-06T20:10:03Z</dcterms:created>
  <dcterms:modified xsi:type="dcterms:W3CDTF">2022-04-21T22:45:35Z</dcterms:modified>
</cp:coreProperties>
</file>